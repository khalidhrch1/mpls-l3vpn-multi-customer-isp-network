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257" r:id="rId2"/>
    <p:sldId id="294" r:id="rId3"/>
    <p:sldId id="286" r:id="rId4"/>
    <p:sldId id="295" r:id="rId5"/>
    <p:sldId id="296" r:id="rId6"/>
    <p:sldId id="318" r:id="rId7"/>
    <p:sldId id="297" r:id="rId8"/>
    <p:sldId id="299" r:id="rId9"/>
    <p:sldId id="300" r:id="rId10"/>
    <p:sldId id="304" r:id="rId11"/>
    <p:sldId id="267" r:id="rId12"/>
    <p:sldId id="313" r:id="rId13"/>
    <p:sldId id="305" r:id="rId14"/>
    <p:sldId id="301" r:id="rId15"/>
    <p:sldId id="315" r:id="rId16"/>
    <p:sldId id="302" r:id="rId17"/>
    <p:sldId id="316" r:id="rId18"/>
    <p:sldId id="303" r:id="rId19"/>
    <p:sldId id="319" r:id="rId20"/>
    <p:sldId id="317"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21B2D"/>
    <a:srgbClr val="FF7900"/>
    <a:srgbClr val="1F2937"/>
    <a:srgbClr val="B84A4A"/>
    <a:srgbClr val="D97706"/>
    <a:srgbClr val="2E7D5B"/>
    <a:srgbClr val="2F6B9A"/>
    <a:srgbClr val="4FA3D1"/>
    <a:srgbClr val="6B5CA5"/>
    <a:srgbClr val="163A5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EDDF6E-F28E-DE2C-F932-58F835361245}" v="44" dt="2026-10-12T11:38:08.4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487FD4-759E-45E5-A064-9CA346602AE1}" type="datetimeFigureOut">
              <a:t>10/12/2026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818054-D9D5-490E-999E-1172E561A251}" type="slidenum">
              <a:t>‹#›</a:t>
            </a:fld>
            <a:endParaRPr lang="en-US"/>
          </a:p>
        </p:txBody>
      </p:sp>
    </p:spTree>
    <p:extLst>
      <p:ext uri="{BB962C8B-B14F-4D97-AF65-F5344CB8AC3E}">
        <p14:creationId xmlns:p14="http://schemas.microsoft.com/office/powerpoint/2010/main" val="14082731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D4A45F8F-69B6-429B-8475-AAB1BC4D24A2}" type="slidenum">
              <a:rPr lang="fr-FR" smtClean="0"/>
              <a:t>1</a:t>
            </a:fld>
            <a:endParaRPr lang="fr-FR"/>
          </a:p>
        </p:txBody>
      </p:sp>
    </p:spTree>
    <p:extLst>
      <p:ext uri="{BB962C8B-B14F-4D97-AF65-F5344CB8AC3E}">
        <p14:creationId xmlns:p14="http://schemas.microsoft.com/office/powerpoint/2010/main" val="4132142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L'en-tête MPLS a une taille fixe de 32 bits (4 octets) et contient 4 champs : 1) Label (20 bits) : valeur entre 0 et 1 048 575 qui identifie le LSP. Certaines valeurs sont réservées (0=IPv4 Explicit NULL, 1=Router Alert, 2=IPv6 Explicit NULL, 3=Implicit NULL). 2) TC/EXP (3 bits) : Traffic Class, anciennement appelé Experimental. Permet de définir 8 niveaux de priorité pour la QoS. 3) S (1 bit) : Bottom of Stack. Vaut 1 pour le dernier label de la pile, 0 pour les labels au-dessus. MPLS supporte plusieurs labels empilés. 4) TTL (8 bits) : Time To Live, copié du TTL IP à l'entrée et réécrits à la sortie.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r>
              <a:rPr lang="fr-FR" sz="1100" b="1" i="0" u="none" strike="noStrike" cap="none">
                <a:solidFill>
                  <a:srgbClr val="000000"/>
                </a:solidFill>
                <a:effectLst/>
                <a:latin typeface="Arial"/>
                <a:ea typeface="Arial"/>
                <a:cs typeface="Arial"/>
                <a:sym typeface="Arial"/>
              </a:rPr>
              <a:t>Choix de la solution</a:t>
            </a:r>
          </a:p>
          <a:p>
            <a:r>
              <a:rPr lang="fr-FR" sz="1100" b="1" i="0" u="none" strike="noStrike" cap="none">
                <a:solidFill>
                  <a:srgbClr val="000000"/>
                </a:solidFill>
                <a:effectLst/>
                <a:latin typeface="Arial"/>
                <a:ea typeface="Arial"/>
                <a:cs typeface="Arial"/>
                <a:sym typeface="Arial"/>
              </a:rPr>
              <a:t>Mise à niveau progressive</a:t>
            </a:r>
            <a:r>
              <a:rPr lang="fr-FR" sz="1100" b="0" i="0" u="none" strike="noStrike" cap="none">
                <a:solidFill>
                  <a:srgbClr val="000000"/>
                </a:solidFill>
                <a:effectLst/>
                <a:latin typeface="Arial"/>
                <a:ea typeface="Arial"/>
                <a:cs typeface="Arial"/>
                <a:sym typeface="Arial"/>
              </a:rPr>
              <a:t> </a:t>
            </a:r>
          </a:p>
          <a:p>
            <a:r>
              <a:rPr lang="fr-FR" sz="1100" b="1" i="0" u="none" strike="noStrike" cap="none">
                <a:solidFill>
                  <a:srgbClr val="000000"/>
                </a:solidFill>
                <a:effectLst/>
                <a:latin typeface="Arial"/>
                <a:ea typeface="Arial"/>
                <a:cs typeface="Arial"/>
                <a:sym typeface="Arial"/>
              </a:rPr>
              <a:t>Gestion centralisée simplifiée</a:t>
            </a:r>
            <a:r>
              <a:rPr lang="fr-FR" sz="1100" b="0" i="0" u="none" strike="noStrike" cap="none">
                <a:solidFill>
                  <a:srgbClr val="000000"/>
                </a:solidFill>
                <a:effectLst/>
                <a:latin typeface="Arial"/>
                <a:ea typeface="Arial"/>
                <a:cs typeface="Arial"/>
                <a:sym typeface="Arial"/>
              </a:rPr>
              <a:t> </a:t>
            </a:r>
          </a:p>
          <a:p>
            <a:r>
              <a:rPr lang="fr-FR" sz="1100" b="1" i="0" u="none" strike="noStrike" cap="none">
                <a:solidFill>
                  <a:srgbClr val="000000"/>
                </a:solidFill>
                <a:effectLst/>
                <a:latin typeface="Arial"/>
                <a:ea typeface="Arial"/>
                <a:cs typeface="Arial"/>
                <a:sym typeface="Arial"/>
              </a:rPr>
              <a:t>Optimisation des ressources existantes</a:t>
            </a:r>
            <a:r>
              <a:rPr lang="fr-FR" sz="1100" b="0" i="0" u="none" strike="noStrike" cap="none">
                <a:solidFill>
                  <a:srgbClr val="000000"/>
                </a:solidFill>
                <a:effectLst/>
                <a:latin typeface="Arial"/>
                <a:ea typeface="Arial"/>
                <a:cs typeface="Arial"/>
                <a:sym typeface="Arial"/>
              </a:rPr>
              <a:t> </a:t>
            </a:r>
          </a:p>
          <a:p>
            <a:r>
              <a:rPr lang="fr-FR" sz="1100" b="1" i="0" u="none" strike="noStrike" cap="none">
                <a:solidFill>
                  <a:srgbClr val="000000"/>
                </a:solidFill>
                <a:effectLst/>
                <a:latin typeface="Arial"/>
                <a:ea typeface="Arial"/>
                <a:cs typeface="Arial"/>
                <a:sym typeface="Arial"/>
              </a:rPr>
              <a:t>Intégration transparente avec les équipements de sécurité existants</a:t>
            </a:r>
            <a:r>
              <a:rPr lang="fr-FR" sz="1100" b="0" i="0" u="none" strike="noStrike" cap="none">
                <a:solidFill>
                  <a:srgbClr val="000000"/>
                </a:solidFill>
                <a:effectLst/>
                <a:latin typeface="Arial"/>
                <a:ea typeface="Arial"/>
                <a:cs typeface="Arial"/>
                <a:sym typeface="Arial"/>
              </a:rPr>
              <a:t> </a:t>
            </a:r>
            <a:endParaRPr lang="fr-FR" baseline="0"/>
          </a:p>
        </p:txBody>
      </p:sp>
    </p:spTree>
    <p:extLst>
      <p:ext uri="{BB962C8B-B14F-4D97-AF65-F5344CB8AC3E}">
        <p14:creationId xmlns:p14="http://schemas.microsoft.com/office/powerpoint/2010/main" val="12324947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10/12/2026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18404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10/12/2026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0.jpe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6" name="Imag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7275" y="93307"/>
            <a:ext cx="1508219" cy="1548882"/>
          </a:xfrm>
          <a:prstGeom prst="rect">
            <a:avLst/>
          </a:prstGeom>
        </p:spPr>
      </p:pic>
      <p:sp>
        <p:nvSpPr>
          <p:cNvPr id="8" name="Rectangle 7"/>
          <p:cNvSpPr/>
          <p:nvPr/>
        </p:nvSpPr>
        <p:spPr>
          <a:xfrm>
            <a:off x="337275" y="1835555"/>
            <a:ext cx="10762735" cy="1938992"/>
          </a:xfrm>
          <a:prstGeom prst="rect">
            <a:avLst/>
          </a:prstGeom>
        </p:spPr>
        <p:txBody>
          <a:bodyPr wrap="square" lIns="91440" tIns="45720" rIns="91440" bIns="45720" anchor="t">
            <a:spAutoFit/>
          </a:bodyPr>
          <a:lstStyle/>
          <a:p>
            <a:pPr algn="ctr"/>
            <a:r>
              <a:rPr lang="en-US" sz="6000" b="1">
                <a:solidFill>
                  <a:schemeClr val="tx2">
                    <a:lumMod val="90000"/>
                    <a:lumOff val="10000"/>
                  </a:schemeClr>
                </a:solidFill>
                <a:ea typeface="+mn-lt"/>
                <a:cs typeface="+mn-lt"/>
              </a:rPr>
              <a:t>MPLS - Multi-Protocol Label Switching</a:t>
            </a:r>
            <a:endParaRPr lang="en-US" b="1">
              <a:solidFill>
                <a:schemeClr val="tx2">
                  <a:lumMod val="90000"/>
                  <a:lumOff val="10000"/>
                </a:schemeClr>
              </a:solidFill>
            </a:endParaRPr>
          </a:p>
        </p:txBody>
      </p:sp>
      <p:pic>
        <p:nvPicPr>
          <p:cNvPr id="2" name="Image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879222" y="215708"/>
            <a:ext cx="1304080" cy="1304080"/>
          </a:xfrm>
          <a:prstGeom prst="rect">
            <a:avLst/>
          </a:prstGeom>
        </p:spPr>
      </p:pic>
      <p:sp>
        <p:nvSpPr>
          <p:cNvPr id="5" name="ZoneTexte 4"/>
          <p:cNvSpPr txBox="1"/>
          <p:nvPr/>
        </p:nvSpPr>
        <p:spPr>
          <a:xfrm>
            <a:off x="6788240" y="5290644"/>
            <a:ext cx="5403760" cy="461665"/>
          </a:xfrm>
          <a:prstGeom prst="rect">
            <a:avLst/>
          </a:prstGeom>
          <a:noFill/>
        </p:spPr>
        <p:txBody>
          <a:bodyPr wrap="square" lIns="91440" tIns="45720" rIns="91440" bIns="45720" rtlCol="0" anchor="t">
            <a:spAutoFit/>
          </a:bodyPr>
          <a:lstStyle/>
          <a:p>
            <a:pPr algn="ctr"/>
            <a:r>
              <a:rPr lang="fr-FR" sz="2400" b="1">
                <a:solidFill>
                  <a:srgbClr val="4FA3D1"/>
                </a:solidFill>
                <a:latin typeface="Trebuchet MS"/>
              </a:rPr>
              <a:t>Réalisé par : Khalid HARCHAOUI</a:t>
            </a:r>
            <a:r>
              <a:rPr lang="en-US" sz="1600" b="1">
                <a:solidFill>
                  <a:schemeClr val="bg1"/>
                </a:solidFill>
                <a:latin typeface="Calibri"/>
                <a:ea typeface="Calibri"/>
                <a:cs typeface="Calibri"/>
              </a:rPr>
              <a:t>ass</a:t>
            </a:r>
            <a:endParaRPr lang="fr-FR">
              <a:solidFill>
                <a:schemeClr val="bg1"/>
              </a:solidFill>
            </a:endParaRPr>
          </a:p>
        </p:txBody>
      </p:sp>
      <p:sp>
        <p:nvSpPr>
          <p:cNvPr id="3" name="Rectangle 2">
            <a:extLst>
              <a:ext uri="{FF2B5EF4-FFF2-40B4-BE49-F238E27FC236}">
                <a16:creationId xmlns:a16="http://schemas.microsoft.com/office/drawing/2014/main" id="{B9837E3A-C164-BE44-C25A-F3D6AC6EAC55}"/>
              </a:ext>
            </a:extLst>
          </p:cNvPr>
          <p:cNvSpPr/>
          <p:nvPr/>
        </p:nvSpPr>
        <p:spPr>
          <a:xfrm>
            <a:off x="314539" y="2387635"/>
            <a:ext cx="10803300" cy="810735"/>
          </a:xfrm>
          <a:prstGeom prst="rect">
            <a:avLst/>
          </a:prstGeom>
        </p:spPr>
        <p:txBody>
          <a:bodyPr wrap="square" lIns="91440" tIns="45720" rIns="91440" bIns="4572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742950" indent="-379095" defTabSz="446088">
              <a:lnSpc>
                <a:spcPct val="150000"/>
              </a:lnSpc>
              <a:buAutoNum type="arabicPeriod"/>
            </a:pPr>
            <a:endParaRPr lang="fr-FR" sz="3600" b="1">
              <a:solidFill>
                <a:schemeClr val="tx1">
                  <a:lumMod val="65000"/>
                  <a:lumOff val="35000"/>
                </a:schemeClr>
              </a:solidFill>
              <a:latin typeface="Agency FB" panose="020B0503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84F03B65-F2B0-DDFD-1F3C-8C0C97A19FC9}"/>
              </a:ext>
            </a:extLst>
          </p:cNvPr>
          <p:cNvSpPr/>
          <p:nvPr/>
        </p:nvSpPr>
        <p:spPr>
          <a:xfrm>
            <a:off x="695539" y="3779113"/>
            <a:ext cx="10803300" cy="593047"/>
          </a:xfrm>
          <a:prstGeom prst="rect">
            <a:avLst/>
          </a:prstGeom>
        </p:spPr>
        <p:txBody>
          <a:bodyPr wrap="square" lIns="91440" tIns="45720" rIns="91440" bIns="4572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63855" algn="ctr" defTabSz="446088">
              <a:lnSpc>
                <a:spcPct val="150000"/>
              </a:lnSpc>
            </a:pPr>
            <a:r>
              <a:rPr lang="fr-FR" sz="2400" b="1">
                <a:solidFill>
                  <a:srgbClr val="2F6B9A"/>
                </a:solidFill>
                <a:ea typeface="+mn-lt"/>
                <a:cs typeface="+mn-lt"/>
              </a:rPr>
              <a:t>Mise en place d’un réseau MPLS avec VRF, IS-IS et MP-BGP</a:t>
            </a:r>
            <a:endParaRPr lang="en-US" sz="2400" b="1">
              <a:solidFill>
                <a:srgbClr val="2F6B9A"/>
              </a:solidFill>
            </a:endParaRPr>
          </a:p>
        </p:txBody>
      </p:sp>
      <p:sp>
        <p:nvSpPr>
          <p:cNvPr id="7" name="Text 5">
            <a:extLst>
              <a:ext uri="{FF2B5EF4-FFF2-40B4-BE49-F238E27FC236}">
                <a16:creationId xmlns:a16="http://schemas.microsoft.com/office/drawing/2014/main" id="{6D7AA6F7-5816-FD38-59C0-6A01718AF4CD}"/>
              </a:ext>
            </a:extLst>
          </p:cNvPr>
          <p:cNvSpPr/>
          <p:nvPr/>
        </p:nvSpPr>
        <p:spPr>
          <a:xfrm>
            <a:off x="192157" y="5524169"/>
            <a:ext cx="8229600" cy="36576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err="1">
                <a:solidFill>
                  <a:srgbClr val="2F6B9A"/>
                </a:solidFill>
                <a:latin typeface="Calibri"/>
                <a:ea typeface="Calibri"/>
                <a:cs typeface="Calibri"/>
              </a:rPr>
              <a:t>Encadrer</a:t>
            </a:r>
            <a:r>
              <a:rPr lang="en-US" sz="2400">
                <a:solidFill>
                  <a:srgbClr val="2F6B9A"/>
                </a:solidFill>
                <a:latin typeface="Calibri"/>
                <a:ea typeface="Calibri"/>
                <a:cs typeface="Calibri"/>
              </a:rPr>
              <a:t> par: </a:t>
            </a:r>
            <a:r>
              <a:rPr lang="en-US" sz="2400" b="1" err="1">
                <a:solidFill>
                  <a:srgbClr val="2F6B9A"/>
                </a:solidFill>
                <a:latin typeface="Calibri"/>
                <a:ea typeface="Calibri"/>
                <a:cs typeface="Calibri"/>
              </a:rPr>
              <a:t>Mr</a:t>
            </a:r>
            <a:r>
              <a:rPr lang="en-US" sz="2400" b="1">
                <a:solidFill>
                  <a:srgbClr val="2F6B9A"/>
                </a:solidFill>
                <a:latin typeface="Calibri"/>
                <a:ea typeface="Calibri"/>
                <a:cs typeface="Calibri"/>
              </a:rPr>
              <a:t> DIOURI Yassine</a:t>
            </a:r>
            <a:endParaRPr lang="en-US" sz="2400"/>
          </a:p>
        </p:txBody>
      </p:sp>
    </p:spTree>
    <p:extLst>
      <p:ext uri="{BB962C8B-B14F-4D97-AF65-F5344CB8AC3E}">
        <p14:creationId xmlns:p14="http://schemas.microsoft.com/office/powerpoint/2010/main" val="38906390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C7EB41FD-02E1-131F-A09B-00C6D07B83C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33127BD-7EF1-B1E6-79C8-ACF743C7D289}"/>
              </a:ext>
            </a:extLst>
          </p:cNvPr>
          <p:cNvSpPr/>
          <p:nvPr/>
        </p:nvSpPr>
        <p:spPr>
          <a:xfrm>
            <a:off x="7369117" y="450012"/>
            <a:ext cx="2802370" cy="646331"/>
          </a:xfrm>
          <a:prstGeom prst="rect">
            <a:avLst/>
          </a:prstGeom>
        </p:spPr>
        <p:txBody>
          <a:bodyPr wrap="none">
            <a:spAutoFit/>
          </a:bodyPr>
          <a:lstStyle/>
          <a:p>
            <a:r>
              <a:rPr lang="fr-FR" sz="3600" b="1" noProof="0">
                <a:solidFill>
                  <a:schemeClr val="bg1"/>
                </a:solidFill>
                <a:latin typeface="AvenirNext LT Pro Bold" panose="020B0804020202020204" pitchFamily="34" charset="0"/>
                <a:cs typeface="Arial" panose="020B0604020202020204" pitchFamily="34" charset="0"/>
              </a:rPr>
              <a:t>SOMMAIRE</a:t>
            </a:r>
            <a:endParaRPr lang="fr-MA" sz="3600" b="1">
              <a:solidFill>
                <a:schemeClr val="bg1"/>
              </a:solidFill>
              <a:latin typeface="AvenirNext LT Pro Bold" panose="020B0804020202020204" pitchFamily="34" charset="0"/>
              <a:cs typeface="Arial" panose="020B0604020202020204" pitchFamily="34" charset="0"/>
            </a:endParaRPr>
          </a:p>
        </p:txBody>
      </p:sp>
      <p:sp>
        <p:nvSpPr>
          <p:cNvPr id="5" name="Rectangle 4">
            <a:extLst>
              <a:ext uri="{FF2B5EF4-FFF2-40B4-BE49-F238E27FC236}">
                <a16:creationId xmlns:a16="http://schemas.microsoft.com/office/drawing/2014/main" id="{99CC6367-62FE-89B8-6E61-C98E7EEE9D5E}"/>
              </a:ext>
            </a:extLst>
          </p:cNvPr>
          <p:cNvSpPr/>
          <p:nvPr/>
        </p:nvSpPr>
        <p:spPr>
          <a:xfrm>
            <a:off x="313591" y="2423354"/>
            <a:ext cx="10803300" cy="2800767"/>
          </a:xfrm>
          <a:prstGeom prst="rect">
            <a:avLst/>
          </a:prstGeom>
        </p:spPr>
        <p:txBody>
          <a:bodyPr wrap="square" lIns="91440" tIns="45720" rIns="91440" bIns="45720" anchor="t">
            <a:spAutoFit/>
          </a:bodyPr>
          <a:lstStyle/>
          <a:p>
            <a:pPr marL="742950" indent="-742950" defTabSz="446088">
              <a:buAutoNum type="arabicPeriod"/>
            </a:pPr>
            <a:r>
              <a:rPr lang="fr-FR" sz="4400" b="1" dirty="0">
                <a:solidFill>
                  <a:srgbClr val="163A5F"/>
                </a:solidFill>
                <a:latin typeface="Agency FB"/>
                <a:ea typeface="+mn-lt"/>
                <a:cs typeface="+mn-lt"/>
              </a:rPr>
              <a:t>Concepts WAN &amp; MPLS</a:t>
            </a:r>
            <a:endParaRPr lang="en-US" sz="4400" b="1" dirty="0">
              <a:solidFill>
                <a:srgbClr val="163A5F"/>
              </a:solidFill>
              <a:latin typeface="Agency FB"/>
            </a:endParaRPr>
          </a:p>
          <a:p>
            <a:pPr marL="742950" indent="-742950" defTabSz="446088">
              <a:buAutoNum type="arabicPeriod"/>
            </a:pPr>
            <a:r>
              <a:rPr lang="fr-FR" sz="4400" b="1" dirty="0">
                <a:solidFill>
                  <a:srgbClr val="163A5F"/>
                </a:solidFill>
                <a:latin typeface="Agency FB"/>
                <a:ea typeface="+mn-lt"/>
                <a:cs typeface="+mn-lt"/>
              </a:rPr>
              <a:t>Architecture et fonctionnement</a:t>
            </a:r>
            <a:endParaRPr lang="fr-FR" sz="4400" b="1" dirty="0">
              <a:solidFill>
                <a:srgbClr val="163A5F"/>
              </a:solidFill>
              <a:latin typeface="Agency FB"/>
            </a:endParaRPr>
          </a:p>
          <a:p>
            <a:pPr marL="742950" indent="-742950" defTabSz="446088">
              <a:buAutoNum type="arabicPeriod"/>
            </a:pPr>
            <a:r>
              <a:rPr lang="fr-FR" sz="4400" b="1" dirty="0">
                <a:solidFill>
                  <a:srgbClr val="163A5F"/>
                </a:solidFill>
                <a:latin typeface="Agency FB"/>
                <a:ea typeface="+mn-lt"/>
                <a:cs typeface="+mn-lt"/>
              </a:rPr>
              <a:t>Protocoles : VRF, IS-IS, LDP, MP-BGP, OSPF</a:t>
            </a:r>
          </a:p>
          <a:p>
            <a:pPr marL="742950" indent="-742950" defTabSz="446088">
              <a:buAutoNum type="arabicPeriod"/>
            </a:pPr>
            <a:r>
              <a:rPr lang="fr-FR" sz="4400" b="1" dirty="0">
                <a:solidFill>
                  <a:srgbClr val="163A5F"/>
                </a:solidFill>
                <a:latin typeface="Agency FB"/>
                <a:ea typeface="+mn-lt"/>
                <a:cs typeface="+mn-lt"/>
              </a:rPr>
              <a:t>Mise en œuvre et tests</a:t>
            </a:r>
            <a:endParaRPr lang="fr-FR" sz="4400" b="1" dirty="0">
              <a:solidFill>
                <a:srgbClr val="163A5F"/>
              </a:solidFill>
              <a:latin typeface="Agency FB"/>
            </a:endParaRPr>
          </a:p>
        </p:txBody>
      </p:sp>
      <p:pic>
        <p:nvPicPr>
          <p:cNvPr id="6" name="Image 5">
            <a:extLst>
              <a:ext uri="{FF2B5EF4-FFF2-40B4-BE49-F238E27FC236}">
                <a16:creationId xmlns:a16="http://schemas.microsoft.com/office/drawing/2014/main" id="{3693DD95-9412-9D75-0725-DB04A2989D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4973" y="93307"/>
            <a:ext cx="1508219" cy="1548882"/>
          </a:xfrm>
          <a:prstGeom prst="rect">
            <a:avLst/>
          </a:prstGeom>
        </p:spPr>
      </p:pic>
      <p:pic>
        <p:nvPicPr>
          <p:cNvPr id="7" name="Image 6">
            <a:extLst>
              <a:ext uri="{FF2B5EF4-FFF2-40B4-BE49-F238E27FC236}">
                <a16:creationId xmlns:a16="http://schemas.microsoft.com/office/drawing/2014/main" id="{ACB240C4-00E4-8A89-3B7A-8CD6E626EC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93259" y="215708"/>
            <a:ext cx="1304080" cy="1304080"/>
          </a:xfrm>
          <a:prstGeom prst="rect">
            <a:avLst/>
          </a:prstGeom>
        </p:spPr>
      </p:pic>
    </p:spTree>
    <p:extLst>
      <p:ext uri="{BB962C8B-B14F-4D97-AF65-F5344CB8AC3E}">
        <p14:creationId xmlns:p14="http://schemas.microsoft.com/office/powerpoint/2010/main" val="798689609"/>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1567113" y="6064"/>
            <a:ext cx="2542684" cy="769441"/>
          </a:xfrm>
          <a:prstGeom prst="rect">
            <a:avLst/>
          </a:prstGeom>
        </p:spPr>
        <p:txBody>
          <a:bodyPr wrap="none" lIns="91440" tIns="45720" rIns="91440" bIns="45720" anchor="t">
            <a:spAutoFit/>
          </a:bodyPr>
          <a:lstStyle/>
          <a:p>
            <a:pPr defTabSz="446088"/>
            <a:r>
              <a:rPr lang="fr-FR" sz="4400" b="1">
                <a:solidFill>
                  <a:srgbClr val="163A5F"/>
                </a:solidFill>
                <a:latin typeface="Agency FB"/>
                <a:ea typeface="+mn-lt"/>
                <a:cs typeface="+mn-lt"/>
              </a:rPr>
              <a:t>Introduction</a:t>
            </a:r>
            <a:endParaRPr lang="fr-FR" sz="4400" b="1">
              <a:solidFill>
                <a:srgbClr val="163A5F"/>
              </a:solidFill>
              <a:latin typeface="Agency FB"/>
              <a:cs typeface="Times New Roman"/>
            </a:endParaRPr>
          </a:p>
        </p:txBody>
      </p:sp>
      <p:pic>
        <p:nvPicPr>
          <p:cNvPr id="6" name="Imag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4118" y="8935"/>
            <a:ext cx="1453171" cy="1492350"/>
          </a:xfrm>
          <a:prstGeom prst="rect">
            <a:avLst/>
          </a:prstGeom>
        </p:spPr>
      </p:pic>
      <p:sp>
        <p:nvSpPr>
          <p:cNvPr id="7" name="ZoneTexte 6"/>
          <p:cNvSpPr txBox="1"/>
          <p:nvPr/>
        </p:nvSpPr>
        <p:spPr>
          <a:xfrm>
            <a:off x="137625" y="1612833"/>
            <a:ext cx="11916459" cy="4154984"/>
          </a:xfrm>
          <a:prstGeom prst="rect">
            <a:avLst/>
          </a:prstGeom>
          <a:noFill/>
        </p:spPr>
        <p:txBody>
          <a:bodyPr wrap="square" lIns="91440" tIns="45720" rIns="91440" bIns="45720" rtlCol="0" anchor="t">
            <a:spAutoFit/>
          </a:bodyPr>
          <a:lstStyle/>
          <a:p>
            <a:pPr algn="just"/>
            <a:r>
              <a:rPr lang="fr-FR" sz="2400">
                <a:ea typeface="+mn-lt"/>
                <a:cs typeface="+mn-lt"/>
              </a:rPr>
              <a:t>Les entreprises disposent souvent de plusieurs sites géographiquement séparés et doivent assurer une communication fiable, sécurisée et efficace entre ces différents réseaux.</a:t>
            </a:r>
            <a:endParaRPr lang="en-US"/>
          </a:p>
          <a:p>
            <a:pPr algn="just"/>
            <a:endParaRPr lang="fr-FR" sz="2400">
              <a:ea typeface="+mn-lt"/>
              <a:cs typeface="+mn-lt"/>
            </a:endParaRPr>
          </a:p>
          <a:p>
            <a:pPr algn="just"/>
            <a:r>
              <a:rPr lang="fr-FR" sz="2400">
                <a:ea typeface="+mn-lt"/>
                <a:cs typeface="+mn-lt"/>
              </a:rPr>
              <a:t>Pour répondre à ce besoin, les opérateurs utilisent des technologies </a:t>
            </a:r>
            <a:r>
              <a:rPr lang="fr-FR" sz="2400" b="1">
                <a:ea typeface="+mn-lt"/>
                <a:cs typeface="+mn-lt"/>
              </a:rPr>
              <a:t>WAN </a:t>
            </a:r>
            <a:r>
              <a:rPr lang="fr-FR" sz="2400">
                <a:ea typeface="+mn-lt"/>
                <a:cs typeface="+mn-lt"/>
              </a:rPr>
              <a:t>permettant d’interconnecter plusieurs sites à travers une infrastructure commune.</a:t>
            </a:r>
            <a:endParaRPr lang="fr-FR"/>
          </a:p>
          <a:p>
            <a:pPr algn="just"/>
            <a:endParaRPr lang="fr-FR" sz="2400">
              <a:ea typeface="+mn-lt"/>
              <a:cs typeface="+mn-lt"/>
            </a:endParaRPr>
          </a:p>
          <a:p>
            <a:pPr algn="just"/>
            <a:r>
              <a:rPr lang="fr-FR" sz="2400">
                <a:ea typeface="+mn-lt"/>
                <a:cs typeface="+mn-lt"/>
              </a:rPr>
              <a:t>Dans cette présentation, nous allons découvrir progressivement le fonctionnement d’une architecture </a:t>
            </a:r>
            <a:r>
              <a:rPr lang="fr-FR" sz="2400" b="1">
                <a:ea typeface="+mn-lt"/>
                <a:cs typeface="+mn-lt"/>
              </a:rPr>
              <a:t>MPLS </a:t>
            </a:r>
            <a:r>
              <a:rPr lang="fr-FR" sz="2400" b="1">
                <a:solidFill>
                  <a:srgbClr val="2F6B9A"/>
                </a:solidFill>
                <a:ea typeface="+mn-lt"/>
                <a:cs typeface="+mn-lt"/>
              </a:rPr>
              <a:t>L3VPN</a:t>
            </a:r>
            <a:r>
              <a:rPr lang="fr-FR" sz="2400">
                <a:ea typeface="+mn-lt"/>
                <a:cs typeface="+mn-lt"/>
              </a:rPr>
              <a:t>, depuis les réseaux </a:t>
            </a:r>
            <a:r>
              <a:rPr lang="fr-FR" sz="2400" b="1">
                <a:ea typeface="+mn-lt"/>
                <a:cs typeface="+mn-lt"/>
              </a:rPr>
              <a:t>WAN </a:t>
            </a:r>
            <a:r>
              <a:rPr lang="fr-FR" sz="2400">
                <a:ea typeface="+mn-lt"/>
                <a:cs typeface="+mn-lt"/>
              </a:rPr>
              <a:t>jusqu’à la mise en œuvre de </a:t>
            </a:r>
            <a:r>
              <a:rPr lang="fr-FR" sz="2400" b="1">
                <a:ea typeface="+mn-lt"/>
                <a:cs typeface="+mn-lt"/>
              </a:rPr>
              <a:t>VRF, IS-IS, MPLS/LDP, MP-BGP et OSPF</a:t>
            </a:r>
            <a:r>
              <a:rPr lang="fr-FR" sz="2400">
                <a:ea typeface="+mn-lt"/>
                <a:cs typeface="+mn-lt"/>
              </a:rPr>
              <a:t>.</a:t>
            </a:r>
            <a:endParaRPr lang="fr-FR">
              <a:ea typeface="+mn-lt"/>
              <a:cs typeface="+mn-lt"/>
            </a:endParaRPr>
          </a:p>
          <a:p>
            <a:pPr algn="just"/>
            <a:endParaRPr lang="fr-FR" sz="2400">
              <a:latin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157604963"/>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1A47E6DC-B4E2-6839-E849-40115BB3C42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7B1157D-2170-066C-DAC5-345E8D0E957B}"/>
              </a:ext>
            </a:extLst>
          </p:cNvPr>
          <p:cNvSpPr/>
          <p:nvPr/>
        </p:nvSpPr>
        <p:spPr>
          <a:xfrm>
            <a:off x="1592097" y="6064"/>
            <a:ext cx="3079689" cy="646331"/>
          </a:xfrm>
          <a:prstGeom prst="rect">
            <a:avLst/>
          </a:prstGeom>
        </p:spPr>
        <p:txBody>
          <a:bodyPr wrap="none" lIns="91440" tIns="45720" rIns="91440" bIns="45720" anchor="t">
            <a:spAutoFit/>
          </a:bodyPr>
          <a:lstStyle/>
          <a:p>
            <a:pPr defTabSz="446088"/>
            <a:r>
              <a:rPr lang="en-US" sz="3600" b="1">
                <a:solidFill>
                  <a:srgbClr val="4FA3D1"/>
                </a:solidFill>
                <a:latin typeface="Agency FB"/>
                <a:ea typeface="+mn-lt"/>
                <a:cs typeface="+mn-lt"/>
              </a:rPr>
              <a:t>LES RESEAUX WAN</a:t>
            </a:r>
            <a:endParaRPr lang="fr-FR" sz="3600">
              <a:solidFill>
                <a:srgbClr val="4FA3D1"/>
              </a:solidFill>
              <a:latin typeface="Agency FB"/>
              <a:ea typeface="+mn-lt"/>
              <a:cs typeface="+mn-lt"/>
            </a:endParaRPr>
          </a:p>
        </p:txBody>
      </p:sp>
      <p:pic>
        <p:nvPicPr>
          <p:cNvPr id="6" name="Image 5">
            <a:extLst>
              <a:ext uri="{FF2B5EF4-FFF2-40B4-BE49-F238E27FC236}">
                <a16:creationId xmlns:a16="http://schemas.microsoft.com/office/drawing/2014/main" id="{BD504863-936C-71D1-E6C6-49BA5D671B6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4118" y="8935"/>
            <a:ext cx="1453171" cy="1492350"/>
          </a:xfrm>
          <a:prstGeom prst="rect">
            <a:avLst/>
          </a:prstGeom>
        </p:spPr>
      </p:pic>
      <p:sp>
        <p:nvSpPr>
          <p:cNvPr id="7" name="ZoneTexte 6">
            <a:extLst>
              <a:ext uri="{FF2B5EF4-FFF2-40B4-BE49-F238E27FC236}">
                <a16:creationId xmlns:a16="http://schemas.microsoft.com/office/drawing/2014/main" id="{8CEEB28C-00BD-7835-C7C8-C1B1C19BBDC1}"/>
              </a:ext>
            </a:extLst>
          </p:cNvPr>
          <p:cNvSpPr txBox="1"/>
          <p:nvPr/>
        </p:nvSpPr>
        <p:spPr>
          <a:xfrm>
            <a:off x="137625" y="1387980"/>
            <a:ext cx="11916459" cy="2185214"/>
          </a:xfrm>
          <a:prstGeom prst="rect">
            <a:avLst/>
          </a:prstGeom>
          <a:noFill/>
        </p:spPr>
        <p:txBody>
          <a:bodyPr wrap="square" lIns="91440" tIns="45720" rIns="91440" bIns="45720" rtlCol="0" anchor="t">
            <a:spAutoFit/>
          </a:bodyPr>
          <a:lstStyle/>
          <a:p>
            <a:pPr algn="just"/>
            <a:r>
              <a:rPr lang="fr-FR" sz="2800">
                <a:latin typeface="Calibri"/>
                <a:ea typeface="Calibri"/>
                <a:cs typeface="Calibri"/>
              </a:rPr>
              <a:t>   </a:t>
            </a:r>
            <a:r>
              <a:rPr lang="fr-FR" sz="2800" b="1">
                <a:latin typeface="Calibri"/>
                <a:ea typeface="Calibri"/>
                <a:cs typeface="Calibri"/>
              </a:rPr>
              <a:t>Les réseaux étendus (WAN)</a:t>
            </a:r>
            <a:r>
              <a:rPr lang="fr-FR" sz="2800">
                <a:latin typeface="Calibri"/>
                <a:ea typeface="Calibri"/>
                <a:cs typeface="Calibri"/>
              </a:rPr>
              <a:t> jouent un rôle essentiel dans la connectivité et la communication entre les sites distants et les centres de données. Ils permettent aux entreprises et aux organisations de gérer efficacement leurs opérations à l'échelle mondiale.</a:t>
            </a:r>
          </a:p>
          <a:p>
            <a:pPr algn="just"/>
            <a:endParaRPr lang="fr-FR" sz="2400">
              <a:latin typeface="Aptos" panose="020B0004020202020204" pitchFamily="34" charset="0"/>
              <a:cs typeface="Times New Roman" panose="02020603050405020304" pitchFamily="18" charset="0"/>
            </a:endParaRPr>
          </a:p>
        </p:txBody>
      </p:sp>
      <p:pic>
        <p:nvPicPr>
          <p:cNvPr id="5" name="Picture 4" descr="LAN vs WAN - Quelle différence entre les deux ?">
            <a:extLst>
              <a:ext uri="{FF2B5EF4-FFF2-40B4-BE49-F238E27FC236}">
                <a16:creationId xmlns:a16="http://schemas.microsoft.com/office/drawing/2014/main" id="{1604C658-1F14-A84D-563D-DC06C7ADE2D9}"/>
              </a:ext>
            </a:extLst>
          </p:cNvPr>
          <p:cNvPicPr>
            <a:picLocks noChangeAspect="1"/>
          </p:cNvPicPr>
          <p:nvPr/>
        </p:nvPicPr>
        <p:blipFill>
          <a:blip r:embed="rId4"/>
          <a:stretch>
            <a:fillRect/>
          </a:stretch>
        </p:blipFill>
        <p:spPr>
          <a:xfrm>
            <a:off x="3810126" y="2903391"/>
            <a:ext cx="4578053" cy="3495407"/>
          </a:xfrm>
          <a:prstGeom prst="rect">
            <a:avLst/>
          </a:prstGeom>
        </p:spPr>
      </p:pic>
    </p:spTree>
    <p:extLst>
      <p:ext uri="{BB962C8B-B14F-4D97-AF65-F5344CB8AC3E}">
        <p14:creationId xmlns:p14="http://schemas.microsoft.com/office/powerpoint/2010/main" val="983958740"/>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55BF705-946A-CFAD-32D4-F7F6FEAA6C9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CF5C9FA-3EC0-59B4-BCDE-863E69737EE9}"/>
              </a:ext>
            </a:extLst>
          </p:cNvPr>
          <p:cNvSpPr/>
          <p:nvPr/>
        </p:nvSpPr>
        <p:spPr>
          <a:xfrm>
            <a:off x="1592097" y="112244"/>
            <a:ext cx="3789820" cy="646331"/>
          </a:xfrm>
          <a:prstGeom prst="rect">
            <a:avLst/>
          </a:prstGeom>
        </p:spPr>
        <p:txBody>
          <a:bodyPr wrap="none" lIns="91440" tIns="45720" rIns="91440" bIns="45720" anchor="t">
            <a:spAutoFit/>
          </a:bodyPr>
          <a:lstStyle/>
          <a:p>
            <a:pPr defTabSz="446088"/>
            <a:r>
              <a:rPr lang="en-US" sz="3600" b="1">
                <a:solidFill>
                  <a:srgbClr val="D97706"/>
                </a:solidFill>
                <a:latin typeface="Agency FB"/>
                <a:ea typeface="+mn-lt"/>
                <a:cs typeface="+mn-lt"/>
              </a:rPr>
              <a:t>QU’EST-CE QUE MPLS ?</a:t>
            </a:r>
            <a:endParaRPr lang="en-US" b="1">
              <a:solidFill>
                <a:srgbClr val="D97706"/>
              </a:solidFill>
              <a:latin typeface="Agency FB"/>
              <a:cs typeface="Times New Roman"/>
            </a:endParaRPr>
          </a:p>
        </p:txBody>
      </p:sp>
      <p:pic>
        <p:nvPicPr>
          <p:cNvPr id="6" name="Image 5">
            <a:extLst>
              <a:ext uri="{FF2B5EF4-FFF2-40B4-BE49-F238E27FC236}">
                <a16:creationId xmlns:a16="http://schemas.microsoft.com/office/drawing/2014/main" id="{8F109953-EDC3-1D31-8CBC-62FF3A9495D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4118" y="8935"/>
            <a:ext cx="1453171" cy="1492350"/>
          </a:xfrm>
          <a:prstGeom prst="rect">
            <a:avLst/>
          </a:prstGeom>
        </p:spPr>
      </p:pic>
      <p:sp>
        <p:nvSpPr>
          <p:cNvPr id="7" name="ZoneTexte 6">
            <a:extLst>
              <a:ext uri="{FF2B5EF4-FFF2-40B4-BE49-F238E27FC236}">
                <a16:creationId xmlns:a16="http://schemas.microsoft.com/office/drawing/2014/main" id="{A0C72006-A8C7-A295-200C-6F71A1BD4560}"/>
              </a:ext>
            </a:extLst>
          </p:cNvPr>
          <p:cNvSpPr txBox="1"/>
          <p:nvPr/>
        </p:nvSpPr>
        <p:spPr>
          <a:xfrm>
            <a:off x="137625" y="1313029"/>
            <a:ext cx="11916459" cy="1384995"/>
          </a:xfrm>
          <a:prstGeom prst="rect">
            <a:avLst/>
          </a:prstGeom>
          <a:noFill/>
        </p:spPr>
        <p:txBody>
          <a:bodyPr wrap="square" lIns="91440" tIns="45720" rIns="91440" bIns="45720" rtlCol="0" anchor="t">
            <a:spAutoFit/>
          </a:bodyPr>
          <a:lstStyle/>
          <a:p>
            <a:pPr algn="just"/>
            <a:r>
              <a:rPr lang="fr-FR" sz="2800" b="1">
                <a:solidFill>
                  <a:srgbClr val="D97706"/>
                </a:solidFill>
                <a:ea typeface="+mn-lt"/>
                <a:cs typeface="+mn-lt"/>
              </a:rPr>
              <a:t>  MPLS (Multi-Protocol Label </a:t>
            </a:r>
            <a:r>
              <a:rPr lang="fr-FR" sz="2800" b="1" err="1">
                <a:solidFill>
                  <a:srgbClr val="D97706"/>
                </a:solidFill>
                <a:ea typeface="+mn-lt"/>
                <a:cs typeface="+mn-lt"/>
              </a:rPr>
              <a:t>Switching</a:t>
            </a:r>
            <a:r>
              <a:rPr lang="fr-FR" sz="2800" b="1">
                <a:solidFill>
                  <a:srgbClr val="D97706"/>
                </a:solidFill>
                <a:ea typeface="+mn-lt"/>
                <a:cs typeface="+mn-lt"/>
              </a:rPr>
              <a:t>)</a:t>
            </a:r>
            <a:r>
              <a:rPr lang="fr-FR" sz="2800">
                <a:solidFill>
                  <a:srgbClr val="000000"/>
                </a:solidFill>
                <a:ea typeface="+mn-lt"/>
                <a:cs typeface="+mn-lt"/>
              </a:rPr>
              <a:t> est une technologie </a:t>
            </a:r>
            <a:r>
              <a:rPr lang="fr-FR" sz="2800" b="1">
                <a:solidFill>
                  <a:srgbClr val="000000"/>
                </a:solidFill>
                <a:ea typeface="+mn-lt"/>
                <a:cs typeface="+mn-lt"/>
              </a:rPr>
              <a:t>WAN </a:t>
            </a:r>
            <a:r>
              <a:rPr lang="fr-FR" sz="2800">
                <a:solidFill>
                  <a:srgbClr val="000000"/>
                </a:solidFill>
                <a:ea typeface="+mn-lt"/>
                <a:cs typeface="+mn-lt"/>
              </a:rPr>
              <a:t>utilisée par les opérateurs pour transporter efficacement les données entre plusieurs sites à travers un réseau étendu.</a:t>
            </a:r>
            <a:endParaRPr lang="en-US">
              <a:ea typeface="+mn-lt"/>
              <a:cs typeface="+mn-lt"/>
            </a:endParaRPr>
          </a:p>
        </p:txBody>
      </p:sp>
      <p:sp>
        <p:nvSpPr>
          <p:cNvPr id="8" name="ZoneTexte 8">
            <a:extLst>
              <a:ext uri="{FF2B5EF4-FFF2-40B4-BE49-F238E27FC236}">
                <a16:creationId xmlns:a16="http://schemas.microsoft.com/office/drawing/2014/main" id="{F03A2E03-7AC5-3569-AF0E-5D3BC3F050EF}"/>
              </a:ext>
            </a:extLst>
          </p:cNvPr>
          <p:cNvSpPr txBox="1"/>
          <p:nvPr/>
        </p:nvSpPr>
        <p:spPr>
          <a:xfrm>
            <a:off x="74053" y="2701491"/>
            <a:ext cx="12040386" cy="4278094"/>
          </a:xfrm>
          <a:prstGeom prst="rect">
            <a:avLst/>
          </a:prstGeom>
          <a:noFill/>
        </p:spPr>
        <p:txBody>
          <a:bodyPr wrap="square" lIns="91440" tIns="45720" rIns="91440" bIns="4572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lnSpc>
                <a:spcPct val="150000"/>
              </a:lnSpc>
            </a:pPr>
            <a:r>
              <a:rPr lang="fr-FR" sz="2800">
                <a:solidFill>
                  <a:srgbClr val="D97706"/>
                </a:solidFill>
                <a:latin typeface="Aptos"/>
                <a:cs typeface="Calibri"/>
              </a:rPr>
              <a:t>    </a:t>
            </a:r>
            <a:r>
              <a:rPr lang="fr-FR" sz="2800" b="1">
                <a:solidFill>
                  <a:srgbClr val="D97706"/>
                </a:solidFill>
                <a:latin typeface="Aptos"/>
                <a:cs typeface="Calibri"/>
              </a:rPr>
              <a:t>Fonctionnement du MPLS :</a:t>
            </a:r>
          </a:p>
          <a:p>
            <a:pPr marL="285750" indent="-285750" algn="just">
              <a:spcBef>
                <a:spcPts val="300"/>
              </a:spcBef>
              <a:buFont typeface="Arial" panose="020B0604020202020204" pitchFamily="34" charset="0"/>
              <a:buChar char="•"/>
            </a:pPr>
            <a:r>
              <a:rPr lang="fr-FR" sz="2400">
                <a:latin typeface="Aptos"/>
                <a:cs typeface="Calibri"/>
              </a:rPr>
              <a:t>Le </a:t>
            </a:r>
            <a:r>
              <a:rPr lang="fr-FR" sz="2400" b="1">
                <a:solidFill>
                  <a:srgbClr val="D97706"/>
                </a:solidFill>
                <a:latin typeface="Aptos"/>
                <a:cs typeface="Calibri"/>
              </a:rPr>
              <a:t>MPLS </a:t>
            </a:r>
            <a:r>
              <a:rPr lang="fr-FR" sz="2400">
                <a:latin typeface="Aptos"/>
                <a:cs typeface="Calibri"/>
              </a:rPr>
              <a:t>utilise des étiquettes (labels) pour identifier et diriger le trafic sur les chemins de réseau appropriés.</a:t>
            </a:r>
          </a:p>
          <a:p>
            <a:pPr marL="285750" indent="-285750" algn="just">
              <a:spcBef>
                <a:spcPts val="300"/>
              </a:spcBef>
              <a:buFont typeface="Arial" panose="020B0604020202020204" pitchFamily="34" charset="0"/>
              <a:buChar char="•"/>
            </a:pPr>
            <a:r>
              <a:rPr lang="fr-FR" sz="2400">
                <a:latin typeface="Aptos"/>
                <a:cs typeface="Calibri"/>
              </a:rPr>
              <a:t>Chaque étiquette est attachée au paquet de données et sert de guide pour les routeurs </a:t>
            </a:r>
            <a:r>
              <a:rPr lang="fr-FR" sz="2400" b="1">
                <a:solidFill>
                  <a:srgbClr val="D97706"/>
                </a:solidFill>
                <a:latin typeface="Aptos"/>
                <a:cs typeface="Calibri"/>
              </a:rPr>
              <a:t>MPLS </a:t>
            </a:r>
            <a:r>
              <a:rPr lang="fr-FR" sz="2400">
                <a:latin typeface="Aptos"/>
                <a:cs typeface="Calibri"/>
              </a:rPr>
              <a:t>tout au long du chemin du réseau.</a:t>
            </a:r>
          </a:p>
          <a:p>
            <a:pPr marL="285750" indent="-285750" algn="just">
              <a:spcBef>
                <a:spcPts val="300"/>
              </a:spcBef>
              <a:buFont typeface="Arial" panose="020B0604020202020204" pitchFamily="34" charset="0"/>
              <a:buChar char="•"/>
            </a:pPr>
            <a:r>
              <a:rPr lang="fr-FR" sz="2400">
                <a:latin typeface="Aptos"/>
                <a:cs typeface="Calibri"/>
              </a:rPr>
              <a:t>Les étiquettes permettent une commutation rapide et précise du trafic, améliorant ainsi la performance et l'efficacité du réseau.</a:t>
            </a:r>
            <a:endParaRPr lang="en-US" sz="2400">
              <a:latin typeface="Aptos"/>
              <a:ea typeface="Calibri"/>
              <a:cs typeface="Calibri"/>
            </a:endParaRPr>
          </a:p>
          <a:p>
            <a:pPr marL="285750" indent="-285750" algn="just">
              <a:spcBef>
                <a:spcPts val="300"/>
              </a:spcBef>
              <a:buFont typeface="Arial" panose="020B0604020202020204" pitchFamily="34" charset="0"/>
              <a:buChar char="•"/>
            </a:pPr>
            <a:r>
              <a:rPr lang="en-US" sz="2400" err="1">
                <a:solidFill>
                  <a:srgbClr val="1E293B"/>
                </a:solidFill>
                <a:latin typeface="Aptos"/>
                <a:ea typeface="Calibri"/>
                <a:cs typeface="Calibri"/>
              </a:rPr>
              <a:t>Fonctionne</a:t>
            </a:r>
            <a:r>
              <a:rPr lang="en-US" sz="2400">
                <a:solidFill>
                  <a:srgbClr val="1E293B"/>
                </a:solidFill>
                <a:latin typeface="Aptos"/>
                <a:ea typeface="Calibri"/>
                <a:cs typeface="Calibri"/>
              </a:rPr>
              <a:t> entre la couche 2 (liaison) et la couche 3 (réseau) du </a:t>
            </a:r>
            <a:r>
              <a:rPr lang="en-US" sz="2400" err="1">
                <a:solidFill>
                  <a:srgbClr val="1E293B"/>
                </a:solidFill>
                <a:latin typeface="Aptos"/>
                <a:ea typeface="Calibri"/>
                <a:cs typeface="Calibri"/>
              </a:rPr>
              <a:t>modèle</a:t>
            </a:r>
            <a:r>
              <a:rPr lang="en-US" sz="2400">
                <a:solidFill>
                  <a:srgbClr val="1E293B"/>
                </a:solidFill>
                <a:latin typeface="Aptos"/>
                <a:ea typeface="Calibri"/>
                <a:cs typeface="Calibri"/>
              </a:rPr>
              <a:t> OSI → </a:t>
            </a:r>
            <a:r>
              <a:rPr lang="en-US" sz="2400" err="1">
                <a:solidFill>
                  <a:srgbClr val="1E293B"/>
                </a:solidFill>
                <a:latin typeface="Aptos"/>
                <a:ea typeface="Calibri"/>
                <a:cs typeface="Calibri"/>
              </a:rPr>
              <a:t>appelée</a:t>
            </a:r>
            <a:r>
              <a:rPr lang="en-US" sz="2400">
                <a:solidFill>
                  <a:srgbClr val="1E293B"/>
                </a:solidFill>
                <a:latin typeface="Aptos"/>
                <a:ea typeface="Calibri"/>
                <a:cs typeface="Calibri"/>
              </a:rPr>
              <a:t> « </a:t>
            </a:r>
            <a:r>
              <a:rPr lang="en-US" sz="2400" b="1">
                <a:solidFill>
                  <a:srgbClr val="1E293B"/>
                </a:solidFill>
                <a:latin typeface="Aptos"/>
                <a:ea typeface="Calibri"/>
                <a:cs typeface="Calibri"/>
              </a:rPr>
              <a:t>couche 2,5 </a:t>
            </a:r>
            <a:r>
              <a:rPr lang="en-US" sz="2400">
                <a:solidFill>
                  <a:srgbClr val="1E293B"/>
                </a:solidFill>
                <a:latin typeface="Aptos"/>
                <a:ea typeface="Calibri"/>
                <a:cs typeface="Calibri"/>
              </a:rPr>
              <a:t>»</a:t>
            </a:r>
            <a:endParaRPr lang="en-US" sz="2400">
              <a:latin typeface="Aptos"/>
              <a:ea typeface="Calibri"/>
              <a:cs typeface="Calibri"/>
            </a:endParaRPr>
          </a:p>
          <a:p>
            <a:pPr marL="285750" indent="-285750" algn="just">
              <a:buFont typeface="Arial" panose="020B0604020202020204" pitchFamily="34" charset="0"/>
              <a:buChar char="•"/>
            </a:pPr>
            <a:endParaRPr lang="fr-FR" sz="2800">
              <a:latin typeface="Aptos"/>
              <a:cs typeface="Calibri"/>
            </a:endParaRPr>
          </a:p>
        </p:txBody>
      </p:sp>
    </p:spTree>
    <p:extLst>
      <p:ext uri="{BB962C8B-B14F-4D97-AF65-F5344CB8AC3E}">
        <p14:creationId xmlns:p14="http://schemas.microsoft.com/office/powerpoint/2010/main" val="1042750522"/>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FFE83A60-56EB-23DE-4D8D-4AB46FECE57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7A3B15E-312D-71D6-AFAE-21908557778E}"/>
              </a:ext>
            </a:extLst>
          </p:cNvPr>
          <p:cNvSpPr/>
          <p:nvPr/>
        </p:nvSpPr>
        <p:spPr>
          <a:xfrm>
            <a:off x="1592097" y="112244"/>
            <a:ext cx="3789820" cy="646331"/>
          </a:xfrm>
          <a:prstGeom prst="rect">
            <a:avLst/>
          </a:prstGeom>
        </p:spPr>
        <p:txBody>
          <a:bodyPr wrap="none" lIns="91440" tIns="45720" rIns="91440" bIns="45720" anchor="t">
            <a:spAutoFit/>
          </a:bodyPr>
          <a:lstStyle/>
          <a:p>
            <a:pPr defTabSz="446088"/>
            <a:r>
              <a:rPr lang="en-US" sz="3600" b="1">
                <a:solidFill>
                  <a:srgbClr val="D97706"/>
                </a:solidFill>
                <a:latin typeface="Agency FB"/>
                <a:ea typeface="+mn-lt"/>
                <a:cs typeface="+mn-lt"/>
              </a:rPr>
              <a:t>QU’EST-CE QUE MPLS ?</a:t>
            </a:r>
            <a:endParaRPr lang="en-US" b="1">
              <a:solidFill>
                <a:srgbClr val="D97706"/>
              </a:solidFill>
              <a:latin typeface="Agency FB"/>
              <a:cs typeface="Times New Roman"/>
            </a:endParaRPr>
          </a:p>
        </p:txBody>
      </p:sp>
      <p:pic>
        <p:nvPicPr>
          <p:cNvPr id="6" name="Image 5">
            <a:extLst>
              <a:ext uri="{FF2B5EF4-FFF2-40B4-BE49-F238E27FC236}">
                <a16:creationId xmlns:a16="http://schemas.microsoft.com/office/drawing/2014/main" id="{6B23B223-9462-F149-5EE3-871DE55F668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4118" y="8935"/>
            <a:ext cx="1453171" cy="1492350"/>
          </a:xfrm>
          <a:prstGeom prst="rect">
            <a:avLst/>
          </a:prstGeom>
        </p:spPr>
      </p:pic>
      <p:sp>
        <p:nvSpPr>
          <p:cNvPr id="7" name="ZoneTexte 6">
            <a:extLst>
              <a:ext uri="{FF2B5EF4-FFF2-40B4-BE49-F238E27FC236}">
                <a16:creationId xmlns:a16="http://schemas.microsoft.com/office/drawing/2014/main" id="{7F9966FA-A451-A31D-A542-F4B1AAC9F643}"/>
              </a:ext>
            </a:extLst>
          </p:cNvPr>
          <p:cNvSpPr txBox="1"/>
          <p:nvPr/>
        </p:nvSpPr>
        <p:spPr>
          <a:xfrm>
            <a:off x="137625" y="2307201"/>
            <a:ext cx="11916459" cy="2246769"/>
          </a:xfrm>
          <a:prstGeom prst="rect">
            <a:avLst/>
          </a:prstGeom>
          <a:noFill/>
        </p:spPr>
        <p:txBody>
          <a:bodyPr wrap="square" lIns="91440" tIns="45720" rIns="91440" bIns="45720" rtlCol="0" anchor="t">
            <a:spAutoFit/>
          </a:bodyPr>
          <a:lstStyle/>
          <a:p>
            <a:pPr algn="just"/>
            <a:r>
              <a:rPr lang="fr-FR" sz="2800" b="1">
                <a:solidFill>
                  <a:srgbClr val="D97706"/>
                </a:solidFill>
                <a:ea typeface="+mn-lt"/>
                <a:cs typeface="+mn-lt"/>
              </a:rPr>
              <a:t>Le MPLS (</a:t>
            </a:r>
            <a:r>
              <a:rPr lang="fr-FR" sz="2800" b="1" err="1">
                <a:solidFill>
                  <a:srgbClr val="D97706"/>
                </a:solidFill>
                <a:ea typeface="+mn-lt"/>
                <a:cs typeface="+mn-lt"/>
              </a:rPr>
              <a:t>Multiprotocol</a:t>
            </a:r>
            <a:r>
              <a:rPr lang="fr-FR" sz="2800" b="1">
                <a:solidFill>
                  <a:srgbClr val="D97706"/>
                </a:solidFill>
                <a:ea typeface="+mn-lt"/>
                <a:cs typeface="+mn-lt"/>
              </a:rPr>
              <a:t> Label </a:t>
            </a:r>
            <a:r>
              <a:rPr lang="fr-FR" sz="2800" b="1" err="1">
                <a:solidFill>
                  <a:srgbClr val="D97706"/>
                </a:solidFill>
                <a:ea typeface="+mn-lt"/>
                <a:cs typeface="+mn-lt"/>
              </a:rPr>
              <a:t>Switching</a:t>
            </a:r>
            <a:r>
              <a:rPr lang="fr-FR" sz="2800" b="1">
                <a:solidFill>
                  <a:srgbClr val="D97706"/>
                </a:solidFill>
                <a:ea typeface="+mn-lt"/>
                <a:cs typeface="+mn-lt"/>
              </a:rPr>
              <a:t>)</a:t>
            </a:r>
            <a:r>
              <a:rPr lang="fr-FR" sz="2800" b="1">
                <a:solidFill>
                  <a:srgbClr val="000000"/>
                </a:solidFill>
                <a:ea typeface="+mn-lt"/>
                <a:cs typeface="+mn-lt"/>
              </a:rPr>
              <a:t> est une technologie de commutation de paquets qui agit entre la </a:t>
            </a:r>
            <a:r>
              <a:rPr lang="fr-FR" sz="2800" b="1">
                <a:solidFill>
                  <a:srgbClr val="2E7D5B"/>
                </a:solidFill>
                <a:ea typeface="+mn-lt"/>
                <a:cs typeface="+mn-lt"/>
              </a:rPr>
              <a:t>couche 2 (liaison de données)</a:t>
            </a:r>
            <a:r>
              <a:rPr lang="fr-FR" sz="2800" b="1">
                <a:solidFill>
                  <a:srgbClr val="000000"/>
                </a:solidFill>
                <a:ea typeface="+mn-lt"/>
                <a:cs typeface="+mn-lt"/>
              </a:rPr>
              <a:t> et la </a:t>
            </a:r>
            <a:r>
              <a:rPr lang="fr-FR" sz="2800" b="1">
                <a:solidFill>
                  <a:srgbClr val="2E7D5B"/>
                </a:solidFill>
                <a:ea typeface="+mn-lt"/>
                <a:cs typeface="+mn-lt"/>
              </a:rPr>
              <a:t>couche 3 (réseau)</a:t>
            </a:r>
            <a:r>
              <a:rPr lang="fr-FR" sz="2800" b="1">
                <a:solidFill>
                  <a:srgbClr val="000000"/>
                </a:solidFill>
                <a:ea typeface="+mn-lt"/>
                <a:cs typeface="+mn-lt"/>
              </a:rPr>
              <a:t> du modèle </a:t>
            </a:r>
            <a:r>
              <a:rPr lang="fr-FR" sz="2800" b="1">
                <a:solidFill>
                  <a:srgbClr val="2E7D5B"/>
                </a:solidFill>
                <a:ea typeface="+mn-lt"/>
                <a:cs typeface="+mn-lt"/>
              </a:rPr>
              <a:t>OSI</a:t>
            </a:r>
            <a:r>
              <a:rPr lang="fr-FR" sz="2800" b="1">
                <a:solidFill>
                  <a:srgbClr val="000000"/>
                </a:solidFill>
                <a:ea typeface="+mn-lt"/>
                <a:cs typeface="+mn-lt"/>
              </a:rPr>
              <a:t>. Son objectif est d’optimiser et d’accélérer le routage des paquets dans les réseaux IP en utilisant des labels au lieu de consulter systématiquement la table de routage.</a:t>
            </a:r>
            <a:endParaRPr lang="fr-FR" b="1">
              <a:ea typeface="+mn-lt"/>
              <a:cs typeface="+mn-lt"/>
            </a:endParaRPr>
          </a:p>
        </p:txBody>
      </p:sp>
    </p:spTree>
    <p:extLst>
      <p:ext uri="{BB962C8B-B14F-4D97-AF65-F5344CB8AC3E}">
        <p14:creationId xmlns:p14="http://schemas.microsoft.com/office/powerpoint/2010/main" val="2440926219"/>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B0ADB2AD-3C92-BD10-BB87-C3A47ADCBF5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8EA2C51-4D62-285C-5642-336477EB8501}"/>
              </a:ext>
            </a:extLst>
          </p:cNvPr>
          <p:cNvSpPr/>
          <p:nvPr/>
        </p:nvSpPr>
        <p:spPr>
          <a:xfrm>
            <a:off x="1592097" y="112244"/>
            <a:ext cx="4501553" cy="646331"/>
          </a:xfrm>
          <a:prstGeom prst="rect">
            <a:avLst/>
          </a:prstGeom>
        </p:spPr>
        <p:txBody>
          <a:bodyPr wrap="none" lIns="91440" tIns="45720" rIns="91440" bIns="45720" anchor="t">
            <a:spAutoFit/>
          </a:bodyPr>
          <a:lstStyle/>
          <a:p>
            <a:pPr defTabSz="446088"/>
            <a:r>
              <a:rPr lang="en-US" sz="3600" b="1">
                <a:solidFill>
                  <a:srgbClr val="D97706"/>
                </a:solidFill>
                <a:latin typeface="Agency FB"/>
                <a:ea typeface="+mn-lt"/>
                <a:cs typeface="+mn-lt"/>
              </a:rPr>
              <a:t>POURQUOI UTILISER MPLS ?</a:t>
            </a:r>
            <a:endParaRPr lang="en-US" b="1">
              <a:latin typeface="Agency FB"/>
              <a:ea typeface="+mn-lt"/>
              <a:cs typeface="+mn-lt"/>
            </a:endParaRPr>
          </a:p>
        </p:txBody>
      </p:sp>
      <p:pic>
        <p:nvPicPr>
          <p:cNvPr id="6" name="Image 5">
            <a:extLst>
              <a:ext uri="{FF2B5EF4-FFF2-40B4-BE49-F238E27FC236}">
                <a16:creationId xmlns:a16="http://schemas.microsoft.com/office/drawing/2014/main" id="{011E457E-AC4E-29C4-62C0-83B2E0DB480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4118" y="8935"/>
            <a:ext cx="1453171" cy="1492350"/>
          </a:xfrm>
          <a:prstGeom prst="rect">
            <a:avLst/>
          </a:prstGeom>
        </p:spPr>
      </p:pic>
      <p:sp>
        <p:nvSpPr>
          <p:cNvPr id="89" name="ZoneTexte 6">
            <a:extLst>
              <a:ext uri="{FF2B5EF4-FFF2-40B4-BE49-F238E27FC236}">
                <a16:creationId xmlns:a16="http://schemas.microsoft.com/office/drawing/2014/main" id="{94665B56-94AC-9FB3-C4BA-5AC65FFE77A4}"/>
              </a:ext>
            </a:extLst>
          </p:cNvPr>
          <p:cNvSpPr txBox="1"/>
          <p:nvPr/>
        </p:nvSpPr>
        <p:spPr>
          <a:xfrm>
            <a:off x="137625" y="1313029"/>
            <a:ext cx="11916459" cy="1384995"/>
          </a:xfrm>
          <a:prstGeom prst="rect">
            <a:avLst/>
          </a:prstGeom>
          <a:noFill/>
        </p:spPr>
        <p:txBody>
          <a:bodyPr wrap="square" lIns="91440" tIns="45720" rIns="91440" bIns="45720" rtlCol="0" anchor="t">
            <a:spAutoFit/>
          </a:bodyPr>
          <a:lstStyle/>
          <a:p>
            <a:pPr algn="just"/>
            <a:r>
              <a:rPr lang="fr-FR" sz="2800">
                <a:solidFill>
                  <a:srgbClr val="000000"/>
                </a:solidFill>
                <a:ea typeface="+mn-lt"/>
                <a:cs typeface="+mn-lt"/>
              </a:rPr>
              <a:t>  Les entreprises possèdent souvent plusieurs sites géographiquement éloignés. Elles ont besoin d’une solution fiable pour échanger des données entre ces sites tout </a:t>
            </a:r>
            <a:r>
              <a:rPr lang="fr-FR" sz="2400" b="1">
                <a:solidFill>
                  <a:srgbClr val="000000"/>
                </a:solidFill>
                <a:ea typeface="+mn-lt"/>
                <a:cs typeface="+mn-lt"/>
              </a:rPr>
              <a:t>en</a:t>
            </a:r>
            <a:r>
              <a:rPr lang="fr-FR" sz="2800">
                <a:solidFill>
                  <a:srgbClr val="000000"/>
                </a:solidFill>
                <a:ea typeface="+mn-lt"/>
                <a:cs typeface="+mn-lt"/>
              </a:rPr>
              <a:t> </a:t>
            </a:r>
            <a:r>
              <a:rPr lang="fr-FR" sz="2400" b="1">
                <a:solidFill>
                  <a:srgbClr val="000000"/>
                </a:solidFill>
                <a:ea typeface="+mn-lt"/>
                <a:cs typeface="+mn-lt"/>
              </a:rPr>
              <a:t>gardant les réseaux séparés et faciles à administrer.</a:t>
            </a:r>
            <a:endParaRPr lang="en-US" sz="2400" b="1">
              <a:ea typeface="+mn-lt"/>
              <a:cs typeface="+mn-lt"/>
            </a:endParaRPr>
          </a:p>
        </p:txBody>
      </p:sp>
      <p:sp>
        <p:nvSpPr>
          <p:cNvPr id="91" name="ZoneTexte 8">
            <a:extLst>
              <a:ext uri="{FF2B5EF4-FFF2-40B4-BE49-F238E27FC236}">
                <a16:creationId xmlns:a16="http://schemas.microsoft.com/office/drawing/2014/main" id="{CA5A7B4F-F952-7419-CD5C-E91CF9161CCE}"/>
              </a:ext>
            </a:extLst>
          </p:cNvPr>
          <p:cNvSpPr txBox="1"/>
          <p:nvPr/>
        </p:nvSpPr>
        <p:spPr>
          <a:xfrm>
            <a:off x="74053" y="4175524"/>
            <a:ext cx="12040386" cy="2893100"/>
          </a:xfrm>
          <a:prstGeom prst="rect">
            <a:avLst/>
          </a:prstGeom>
          <a:noFill/>
        </p:spPr>
        <p:txBody>
          <a:bodyPr wrap="square" lIns="91440" tIns="45720" rIns="91440" bIns="4572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7200" algn="just">
              <a:buFont typeface="Wingdings"/>
              <a:buChar char="ü"/>
            </a:pPr>
            <a:r>
              <a:rPr lang="fr-FR" sz="2600" b="1">
                <a:solidFill>
                  <a:srgbClr val="1F2937"/>
                </a:solidFill>
              </a:rPr>
              <a:t>Sécurité / isolation</a:t>
            </a:r>
            <a:r>
              <a:rPr lang="fr-FR" sz="2600">
                <a:solidFill>
                  <a:srgbClr val="1F2937"/>
                </a:solidFill>
              </a:rPr>
              <a:t> : grâce aux </a:t>
            </a:r>
            <a:r>
              <a:rPr lang="fr-FR" sz="2600" b="1">
                <a:solidFill>
                  <a:srgbClr val="1F2937"/>
                </a:solidFill>
              </a:rPr>
              <a:t>VRF</a:t>
            </a:r>
            <a:r>
              <a:rPr lang="fr-FR" sz="2600">
                <a:solidFill>
                  <a:srgbClr val="1F2937"/>
                </a:solidFill>
              </a:rPr>
              <a:t>, les réseaux des clients restent séparés.</a:t>
            </a:r>
            <a:endParaRPr lang="en-US" sz="2600">
              <a:solidFill>
                <a:srgbClr val="1F2937"/>
              </a:solidFill>
            </a:endParaRPr>
          </a:p>
          <a:p>
            <a:pPr marL="457200" indent="-457200" algn="just">
              <a:buFont typeface="Wingdings"/>
              <a:buChar char="ü"/>
            </a:pPr>
            <a:r>
              <a:rPr lang="fr-FR" sz="2600" b="1">
                <a:solidFill>
                  <a:srgbClr val="1F2937"/>
                </a:solidFill>
              </a:rPr>
              <a:t>Disponibilité</a:t>
            </a:r>
            <a:r>
              <a:rPr lang="fr-FR" sz="2600">
                <a:solidFill>
                  <a:srgbClr val="1F2937"/>
                </a:solidFill>
              </a:rPr>
              <a:t> : le réseau opérateur</a:t>
            </a:r>
            <a:r>
              <a:rPr lang="fr-FR" sz="2600">
                <a:solidFill>
                  <a:srgbClr val="1F2937"/>
                </a:solidFill>
                <a:ea typeface="Calibri"/>
              </a:rPr>
              <a:t> peut utiliser plusieurs chemins et des mécanismes de redondance.</a:t>
            </a:r>
            <a:endParaRPr lang="fr-FR" sz="2600">
              <a:solidFill>
                <a:srgbClr val="1F2937"/>
              </a:solidFill>
            </a:endParaRPr>
          </a:p>
          <a:p>
            <a:pPr marL="457200" indent="-457200" algn="just">
              <a:buFont typeface="Wingdings"/>
              <a:buChar char="ü"/>
            </a:pPr>
            <a:r>
              <a:rPr lang="fr-FR" sz="2600" b="1">
                <a:solidFill>
                  <a:srgbClr val="1F2937"/>
                </a:solidFill>
                <a:ea typeface="Calibri"/>
              </a:rPr>
              <a:t>Performance</a:t>
            </a:r>
            <a:r>
              <a:rPr lang="fr-FR" sz="2600">
                <a:solidFill>
                  <a:srgbClr val="1F2937"/>
                </a:solidFill>
                <a:ea typeface="Calibri"/>
              </a:rPr>
              <a:t> : MPLS permet un acheminement efficace par labels.</a:t>
            </a:r>
            <a:endParaRPr lang="en-US" sz="2600">
              <a:solidFill>
                <a:srgbClr val="1F2937"/>
              </a:solidFill>
            </a:endParaRPr>
          </a:p>
          <a:p>
            <a:pPr marL="457200" indent="-457200" algn="just">
              <a:buFont typeface="Wingdings"/>
              <a:buChar char="ü"/>
            </a:pPr>
            <a:r>
              <a:rPr lang="fr-FR" sz="2600" b="1">
                <a:solidFill>
                  <a:srgbClr val="1F2937"/>
                </a:solidFill>
                <a:ea typeface="Calibri"/>
              </a:rPr>
              <a:t>QoS</a:t>
            </a:r>
            <a:r>
              <a:rPr lang="fr-FR" sz="2600">
                <a:solidFill>
                  <a:srgbClr val="1F2937"/>
                </a:solidFill>
                <a:ea typeface="Calibri"/>
              </a:rPr>
              <a:t> : il peut prioriser certains types de trafic, par exemple la voix ou la vidéo.</a:t>
            </a:r>
            <a:endParaRPr lang="fr-FR" sz="2600">
              <a:solidFill>
                <a:srgbClr val="1F2937"/>
              </a:solidFill>
            </a:endParaRPr>
          </a:p>
          <a:p>
            <a:pPr marL="457200" indent="-457200" algn="just">
              <a:buFont typeface="Wingdings"/>
              <a:buChar char="ü"/>
            </a:pPr>
            <a:endParaRPr lang="en-US" sz="2600">
              <a:solidFill>
                <a:srgbClr val="1F2937"/>
              </a:solidFill>
            </a:endParaRPr>
          </a:p>
        </p:txBody>
      </p:sp>
      <p:sp>
        <p:nvSpPr>
          <p:cNvPr id="92" name="ZoneTexte 6">
            <a:extLst>
              <a:ext uri="{FF2B5EF4-FFF2-40B4-BE49-F238E27FC236}">
                <a16:creationId xmlns:a16="http://schemas.microsoft.com/office/drawing/2014/main" id="{5A233602-BD3F-606E-7CD2-23DBE43C89C7}"/>
              </a:ext>
            </a:extLst>
          </p:cNvPr>
          <p:cNvSpPr txBox="1"/>
          <p:nvPr/>
        </p:nvSpPr>
        <p:spPr>
          <a:xfrm>
            <a:off x="137624" y="2699618"/>
            <a:ext cx="11916459" cy="1384995"/>
          </a:xfrm>
          <a:prstGeom prst="rect">
            <a:avLst/>
          </a:prstGeom>
          <a:noFill/>
        </p:spPr>
        <p:txBody>
          <a:bodyPr wrap="square" lIns="91440" tIns="45720" rIns="91440" bIns="45720" rtlCol="0" anchor="t">
            <a:spAutoFit/>
          </a:bodyPr>
          <a:lstStyle/>
          <a:p>
            <a:pPr algn="just"/>
            <a:r>
              <a:rPr lang="fr-FR" sz="2800" b="1">
                <a:solidFill>
                  <a:srgbClr val="D97706"/>
                </a:solidFill>
                <a:ea typeface="+mn-lt"/>
                <a:cs typeface="+mn-lt"/>
              </a:rPr>
              <a:t>MPLS </a:t>
            </a:r>
            <a:r>
              <a:rPr lang="fr-FR" sz="2800">
                <a:solidFill>
                  <a:srgbClr val="000000"/>
                </a:solidFill>
                <a:ea typeface="+mn-lt"/>
                <a:cs typeface="+mn-lt"/>
              </a:rPr>
              <a:t>permet d’améliorer </a:t>
            </a:r>
            <a:r>
              <a:rPr lang="fr-FR" sz="2800" b="1">
                <a:solidFill>
                  <a:srgbClr val="000000"/>
                </a:solidFill>
                <a:ea typeface="+mn-lt"/>
                <a:cs typeface="+mn-lt"/>
              </a:rPr>
              <a:t>la disponibilité, la qualité de service,</a:t>
            </a:r>
            <a:r>
              <a:rPr lang="fr-FR" sz="2800">
                <a:solidFill>
                  <a:srgbClr val="000000"/>
                </a:solidFill>
                <a:ea typeface="+mn-lt"/>
                <a:cs typeface="+mn-lt"/>
              </a:rPr>
              <a:t> </a:t>
            </a:r>
            <a:r>
              <a:rPr lang="fr-FR" sz="2800" b="1">
                <a:solidFill>
                  <a:srgbClr val="000000"/>
                </a:solidFill>
                <a:ea typeface="+mn-lt"/>
                <a:cs typeface="+mn-lt"/>
              </a:rPr>
              <a:t>l’évolutivité et l’isolation logique</a:t>
            </a:r>
            <a:r>
              <a:rPr lang="fr-FR" sz="2800">
                <a:solidFill>
                  <a:srgbClr val="000000"/>
                </a:solidFill>
                <a:ea typeface="+mn-lt"/>
                <a:cs typeface="+mn-lt"/>
              </a:rPr>
              <a:t> des réseaux clients dans une infrastructure opérateur.</a:t>
            </a:r>
            <a:endParaRPr lang="en-US">
              <a:ea typeface="+mn-lt"/>
              <a:cs typeface="+mn-lt"/>
            </a:endParaRPr>
          </a:p>
        </p:txBody>
      </p:sp>
    </p:spTree>
    <p:extLst>
      <p:ext uri="{BB962C8B-B14F-4D97-AF65-F5344CB8AC3E}">
        <p14:creationId xmlns:p14="http://schemas.microsoft.com/office/powerpoint/2010/main" val="3713086494"/>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927B64B-9F7D-B0DF-0297-12E650AAF6B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1CE53AA-AB76-64C6-4574-64BFD9E069E3}"/>
              </a:ext>
            </a:extLst>
          </p:cNvPr>
          <p:cNvSpPr/>
          <p:nvPr/>
        </p:nvSpPr>
        <p:spPr>
          <a:xfrm>
            <a:off x="1592097" y="112244"/>
            <a:ext cx="3467616" cy="1323439"/>
          </a:xfrm>
          <a:prstGeom prst="rect">
            <a:avLst/>
          </a:prstGeom>
        </p:spPr>
        <p:txBody>
          <a:bodyPr wrap="none" lIns="91440" tIns="45720" rIns="91440" bIns="45720" anchor="t">
            <a:spAutoFit/>
          </a:bodyPr>
          <a:lstStyle/>
          <a:p>
            <a:pPr defTabSz="446088"/>
            <a:r>
              <a:rPr lang="en-US" sz="4000" b="1">
                <a:solidFill>
                  <a:srgbClr val="D97706"/>
                </a:solidFill>
                <a:latin typeface="Agency FB"/>
                <a:ea typeface="Calibri"/>
                <a:cs typeface="Calibri"/>
              </a:rPr>
              <a:t>Architecture MPLS</a:t>
            </a:r>
          </a:p>
          <a:p>
            <a:pPr defTabSz="446088"/>
            <a:endParaRPr lang="en-US" sz="4000" b="1">
              <a:solidFill>
                <a:srgbClr val="D97706"/>
              </a:solidFill>
              <a:latin typeface="Agency FB"/>
              <a:ea typeface="+mn-lt"/>
              <a:cs typeface="+mn-lt"/>
            </a:endParaRPr>
          </a:p>
        </p:txBody>
      </p:sp>
      <p:pic>
        <p:nvPicPr>
          <p:cNvPr id="6" name="Image 5">
            <a:extLst>
              <a:ext uri="{FF2B5EF4-FFF2-40B4-BE49-F238E27FC236}">
                <a16:creationId xmlns:a16="http://schemas.microsoft.com/office/drawing/2014/main" id="{56A3010D-A6E4-BB9F-021F-B700A82AF57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4118" y="8935"/>
            <a:ext cx="1453171" cy="1492350"/>
          </a:xfrm>
          <a:prstGeom prst="rect">
            <a:avLst/>
          </a:prstGeom>
        </p:spPr>
      </p:pic>
      <p:sp>
        <p:nvSpPr>
          <p:cNvPr id="3" name="Content Placeholder 2">
            <a:extLst>
              <a:ext uri="{FF2B5EF4-FFF2-40B4-BE49-F238E27FC236}">
                <a16:creationId xmlns:a16="http://schemas.microsoft.com/office/drawing/2014/main" id="{9CE8C47A-70B5-F9F8-A96F-1253F71A9B2D}"/>
              </a:ext>
            </a:extLst>
          </p:cNvPr>
          <p:cNvSpPr>
            <a:spLocks noGrp="1"/>
          </p:cNvSpPr>
          <p:nvPr>
            <p:ph sz="half" idx="1"/>
          </p:nvPr>
        </p:nvSpPr>
        <p:spPr>
          <a:xfrm>
            <a:off x="-4998" y="1507083"/>
            <a:ext cx="4088570" cy="1827994"/>
          </a:xfrm>
        </p:spPr>
        <p:txBody>
          <a:bodyPr vert="horz" lIns="91440" tIns="45720" rIns="91440" bIns="45720" rtlCol="0" anchor="t">
            <a:normAutofit/>
          </a:bodyPr>
          <a:lstStyle/>
          <a:p>
            <a:pPr marL="0" indent="0" algn="ctr">
              <a:buNone/>
            </a:pPr>
            <a:r>
              <a:rPr lang="en-US" b="1">
                <a:solidFill>
                  <a:schemeClr val="accent3">
                    <a:lumMod val="76000"/>
                  </a:schemeClr>
                </a:solidFill>
                <a:ea typeface="+mn-lt"/>
                <a:cs typeface="+mn-lt"/>
              </a:rPr>
              <a:t>CE - Customer Edge</a:t>
            </a:r>
            <a:endParaRPr lang="en-US">
              <a:solidFill>
                <a:schemeClr val="accent3">
                  <a:lumMod val="76000"/>
                </a:schemeClr>
              </a:solidFill>
            </a:endParaRPr>
          </a:p>
          <a:p>
            <a:r>
              <a:rPr lang="en-US" err="1">
                <a:ea typeface="+mn-lt"/>
                <a:cs typeface="+mn-lt"/>
              </a:rPr>
              <a:t>Routeur</a:t>
            </a:r>
            <a:r>
              <a:rPr lang="en-US">
                <a:ea typeface="+mn-lt"/>
                <a:cs typeface="+mn-lt"/>
              </a:rPr>
              <a:t> </a:t>
            </a:r>
            <a:r>
              <a:rPr lang="en-US" err="1">
                <a:ea typeface="+mn-lt"/>
                <a:cs typeface="+mn-lt"/>
              </a:rPr>
              <a:t>situé</a:t>
            </a:r>
            <a:r>
              <a:rPr lang="en-US">
                <a:ea typeface="+mn-lt"/>
                <a:cs typeface="+mn-lt"/>
              </a:rPr>
              <a:t> chez le client et </a:t>
            </a:r>
            <a:r>
              <a:rPr lang="en-US" err="1">
                <a:ea typeface="+mn-lt"/>
                <a:cs typeface="+mn-lt"/>
              </a:rPr>
              <a:t>connecté</a:t>
            </a:r>
            <a:r>
              <a:rPr lang="en-US">
                <a:ea typeface="+mn-lt"/>
                <a:cs typeface="+mn-lt"/>
              </a:rPr>
              <a:t> au réseau de </a:t>
            </a:r>
            <a:r>
              <a:rPr lang="en-US" err="1">
                <a:ea typeface="+mn-lt"/>
                <a:cs typeface="+mn-lt"/>
              </a:rPr>
              <a:t>l’opérateur</a:t>
            </a:r>
            <a:r>
              <a:rPr lang="en-US">
                <a:ea typeface="+mn-lt"/>
                <a:cs typeface="+mn-lt"/>
              </a:rPr>
              <a:t>.</a:t>
            </a:r>
          </a:p>
          <a:p>
            <a:endParaRPr lang="en-US"/>
          </a:p>
        </p:txBody>
      </p:sp>
      <p:sp>
        <p:nvSpPr>
          <p:cNvPr id="9" name="Content Placeholder 2">
            <a:extLst>
              <a:ext uri="{FF2B5EF4-FFF2-40B4-BE49-F238E27FC236}">
                <a16:creationId xmlns:a16="http://schemas.microsoft.com/office/drawing/2014/main" id="{3058BD41-9B76-83B8-A6BD-0C05987F0D3D}"/>
              </a:ext>
            </a:extLst>
          </p:cNvPr>
          <p:cNvSpPr txBox="1">
            <a:spLocks/>
          </p:cNvSpPr>
          <p:nvPr/>
        </p:nvSpPr>
        <p:spPr>
          <a:xfrm>
            <a:off x="8104680" y="1509583"/>
            <a:ext cx="4088569" cy="190919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a:solidFill>
                  <a:schemeClr val="accent3">
                    <a:lumMod val="76000"/>
                  </a:schemeClr>
                </a:solidFill>
                <a:ea typeface="+mn-lt"/>
                <a:cs typeface="+mn-lt"/>
              </a:rPr>
              <a:t>P - Provider Router</a:t>
            </a:r>
            <a:endParaRPr lang="en-US" b="1">
              <a:solidFill>
                <a:schemeClr val="accent3">
                  <a:lumMod val="76000"/>
                </a:schemeClr>
              </a:solidFill>
            </a:endParaRPr>
          </a:p>
          <a:p>
            <a:r>
              <a:rPr lang="en-US" err="1">
                <a:ea typeface="+mn-lt"/>
                <a:cs typeface="+mn-lt"/>
              </a:rPr>
              <a:t>Routeur</a:t>
            </a:r>
            <a:r>
              <a:rPr lang="en-US">
                <a:ea typeface="+mn-lt"/>
                <a:cs typeface="+mn-lt"/>
              </a:rPr>
              <a:t> </a:t>
            </a:r>
            <a:r>
              <a:rPr lang="en-US" err="1">
                <a:ea typeface="+mn-lt"/>
                <a:cs typeface="+mn-lt"/>
              </a:rPr>
              <a:t>situé</a:t>
            </a:r>
            <a:r>
              <a:rPr lang="en-US">
                <a:ea typeface="+mn-lt"/>
                <a:cs typeface="+mn-lt"/>
              </a:rPr>
              <a:t> dans le </a:t>
            </a:r>
            <a:r>
              <a:rPr lang="en-US" err="1">
                <a:ea typeface="+mn-lt"/>
                <a:cs typeface="+mn-lt"/>
              </a:rPr>
              <a:t>cœur</a:t>
            </a:r>
            <a:r>
              <a:rPr lang="en-US">
                <a:ea typeface="+mn-lt"/>
                <a:cs typeface="+mn-lt"/>
              </a:rPr>
              <a:t> du réseau de </a:t>
            </a:r>
            <a:r>
              <a:rPr lang="en-US" err="1">
                <a:ea typeface="+mn-lt"/>
                <a:cs typeface="+mn-lt"/>
              </a:rPr>
              <a:t>l’opérateur</a:t>
            </a:r>
            <a:r>
              <a:rPr lang="en-US">
                <a:ea typeface="+mn-lt"/>
                <a:cs typeface="+mn-lt"/>
              </a:rPr>
              <a:t>.</a:t>
            </a:r>
          </a:p>
          <a:p>
            <a:pPr marL="0" indent="0" algn="ctr">
              <a:buNone/>
            </a:pPr>
            <a:endParaRPr lang="en-US">
              <a:ea typeface="+mn-lt"/>
              <a:cs typeface="+mn-lt"/>
            </a:endParaRPr>
          </a:p>
        </p:txBody>
      </p:sp>
      <p:sp>
        <p:nvSpPr>
          <p:cNvPr id="11" name="Content Placeholder 2">
            <a:extLst>
              <a:ext uri="{FF2B5EF4-FFF2-40B4-BE49-F238E27FC236}">
                <a16:creationId xmlns:a16="http://schemas.microsoft.com/office/drawing/2014/main" id="{A39EF8A3-8880-2AC3-DA37-DB161761E918}"/>
              </a:ext>
            </a:extLst>
          </p:cNvPr>
          <p:cNvSpPr txBox="1">
            <a:spLocks/>
          </p:cNvSpPr>
          <p:nvPr/>
        </p:nvSpPr>
        <p:spPr>
          <a:xfrm>
            <a:off x="4073575" y="1507083"/>
            <a:ext cx="4044849" cy="1915437"/>
          </a:xfrm>
          <a:prstGeom prst="rect">
            <a:avLst/>
          </a:prstGeom>
        </p:spPr>
        <p:txBody>
          <a:bodyPr vert="horz" lIns="91440" tIns="45720" rIns="91440" bIns="45720" rtlCol="0" anchor="t">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a:solidFill>
                  <a:schemeClr val="accent3">
                    <a:lumMod val="76000"/>
                  </a:schemeClr>
                </a:solidFill>
                <a:ea typeface="+mn-lt"/>
                <a:cs typeface="+mn-lt"/>
              </a:rPr>
              <a:t>PE - Provider Edge</a:t>
            </a:r>
          </a:p>
          <a:p>
            <a:r>
              <a:rPr lang="en-US" err="1">
                <a:ea typeface="+mn-lt"/>
                <a:cs typeface="+mn-lt"/>
              </a:rPr>
              <a:t>Routeur</a:t>
            </a:r>
            <a:r>
              <a:rPr lang="en-US">
                <a:ea typeface="+mn-lt"/>
                <a:cs typeface="+mn-lt"/>
              </a:rPr>
              <a:t> de bordure de </a:t>
            </a:r>
            <a:r>
              <a:rPr lang="en-US" err="1">
                <a:ea typeface="+mn-lt"/>
                <a:cs typeface="+mn-lt"/>
              </a:rPr>
              <a:t>l’opérateur</a:t>
            </a:r>
            <a:r>
              <a:rPr lang="en-US">
                <a:ea typeface="+mn-lt"/>
                <a:cs typeface="+mn-lt"/>
              </a:rPr>
              <a:t> </a:t>
            </a:r>
            <a:r>
              <a:rPr lang="en-US" err="1">
                <a:ea typeface="+mn-lt"/>
                <a:cs typeface="+mn-lt"/>
              </a:rPr>
              <a:t>connecté</a:t>
            </a:r>
            <a:r>
              <a:rPr lang="en-US">
                <a:ea typeface="+mn-lt"/>
                <a:cs typeface="+mn-lt"/>
              </a:rPr>
              <a:t> </a:t>
            </a:r>
            <a:r>
              <a:rPr lang="en-US" err="1">
                <a:ea typeface="+mn-lt"/>
                <a:cs typeface="+mn-lt"/>
              </a:rPr>
              <a:t>directement</a:t>
            </a:r>
            <a:r>
              <a:rPr lang="en-US">
                <a:ea typeface="+mn-lt"/>
                <a:cs typeface="+mn-lt"/>
              </a:rPr>
              <a:t> aux clients.</a:t>
            </a:r>
          </a:p>
          <a:p>
            <a:pPr marL="0" indent="0" algn="ctr">
              <a:buFont typeface="Arial" panose="020B0604020202020204" pitchFamily="34" charset="0"/>
              <a:buNone/>
            </a:pPr>
            <a:endParaRPr lang="en-US" sz="2400" b="1"/>
          </a:p>
          <a:p>
            <a:endParaRPr lang="en-US"/>
          </a:p>
        </p:txBody>
      </p:sp>
      <p:pic>
        <p:nvPicPr>
          <p:cNvPr id="12" name="Picture 11">
            <a:extLst>
              <a:ext uri="{FF2B5EF4-FFF2-40B4-BE49-F238E27FC236}">
                <a16:creationId xmlns:a16="http://schemas.microsoft.com/office/drawing/2014/main" id="{A36FFE80-96FA-BD0D-C33E-DCF0B65E2A8B}"/>
              </a:ext>
            </a:extLst>
          </p:cNvPr>
          <p:cNvPicPr>
            <a:picLocks noChangeAspect="1"/>
          </p:cNvPicPr>
          <p:nvPr/>
        </p:nvPicPr>
        <p:blipFill>
          <a:blip r:embed="rId4"/>
          <a:srcRect l="-143" t="21034" r="141" b="19786"/>
          <a:stretch>
            <a:fillRect/>
          </a:stretch>
        </p:blipFill>
        <p:spPr>
          <a:xfrm>
            <a:off x="1116327" y="3429001"/>
            <a:ext cx="9406291" cy="3205307"/>
          </a:xfrm>
          <a:prstGeom prst="rect">
            <a:avLst/>
          </a:prstGeom>
        </p:spPr>
      </p:pic>
      <p:sp>
        <p:nvSpPr>
          <p:cNvPr id="13" name="Oval 12">
            <a:extLst>
              <a:ext uri="{FF2B5EF4-FFF2-40B4-BE49-F238E27FC236}">
                <a16:creationId xmlns:a16="http://schemas.microsoft.com/office/drawing/2014/main" id="{AD1D4E8D-C333-9839-AE2D-DF1E09BD0886}"/>
              </a:ext>
            </a:extLst>
          </p:cNvPr>
          <p:cNvSpPr/>
          <p:nvPr/>
        </p:nvSpPr>
        <p:spPr>
          <a:xfrm>
            <a:off x="5271541" y="5771213"/>
            <a:ext cx="1249180" cy="51216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a:solidFill>
                  <a:srgbClr val="FFC000"/>
                </a:solidFill>
                <a:latin typeface="Aptos"/>
              </a:rPr>
              <a:t>ISP</a:t>
            </a:r>
            <a:endParaRPr lang="en-US">
              <a:solidFill>
                <a:srgbClr val="FFC000"/>
              </a:solidFill>
            </a:endParaRPr>
          </a:p>
        </p:txBody>
      </p:sp>
    </p:spTree>
    <p:extLst>
      <p:ext uri="{BB962C8B-B14F-4D97-AF65-F5344CB8AC3E}">
        <p14:creationId xmlns:p14="http://schemas.microsoft.com/office/powerpoint/2010/main" val="766500710"/>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6C9AF43-A8A8-3EEB-2104-18CE62351F6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F0DB7B5-E91D-302C-6150-9A3E48C08CA7}"/>
              </a:ext>
            </a:extLst>
          </p:cNvPr>
          <p:cNvSpPr/>
          <p:nvPr/>
        </p:nvSpPr>
        <p:spPr>
          <a:xfrm>
            <a:off x="1592097" y="112244"/>
            <a:ext cx="6500497" cy="707886"/>
          </a:xfrm>
          <a:prstGeom prst="rect">
            <a:avLst/>
          </a:prstGeom>
        </p:spPr>
        <p:txBody>
          <a:bodyPr wrap="none" lIns="91440" tIns="45720" rIns="91440" bIns="45720" anchor="t">
            <a:spAutoFit/>
          </a:bodyPr>
          <a:lstStyle/>
          <a:p>
            <a:pPr defTabSz="446088"/>
            <a:r>
              <a:rPr lang="en-US" sz="4000" b="1">
                <a:solidFill>
                  <a:srgbClr val="D97706"/>
                </a:solidFill>
                <a:latin typeface="Agency FB"/>
                <a:ea typeface="+mn-lt"/>
                <a:cs typeface="+mn-lt"/>
              </a:rPr>
              <a:t>FONCTIONNEMENT DES LABELS MPLS</a:t>
            </a:r>
            <a:endParaRPr lang="en-US" b="1">
              <a:latin typeface="Agency FB"/>
              <a:ea typeface="+mn-lt"/>
              <a:cs typeface="+mn-lt"/>
            </a:endParaRPr>
          </a:p>
        </p:txBody>
      </p:sp>
      <p:pic>
        <p:nvPicPr>
          <p:cNvPr id="6" name="Image 5">
            <a:extLst>
              <a:ext uri="{FF2B5EF4-FFF2-40B4-BE49-F238E27FC236}">
                <a16:creationId xmlns:a16="http://schemas.microsoft.com/office/drawing/2014/main" id="{4D4AF7CE-2FC7-3A43-CFD4-241CE672BE4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4118" y="8935"/>
            <a:ext cx="1453171" cy="1492350"/>
          </a:xfrm>
          <a:prstGeom prst="rect">
            <a:avLst/>
          </a:prstGeom>
        </p:spPr>
      </p:pic>
      <p:sp>
        <p:nvSpPr>
          <p:cNvPr id="3" name="Content Placeholder 2">
            <a:extLst>
              <a:ext uri="{FF2B5EF4-FFF2-40B4-BE49-F238E27FC236}">
                <a16:creationId xmlns:a16="http://schemas.microsoft.com/office/drawing/2014/main" id="{33C57A13-E24B-2951-1AAE-0D845238262D}"/>
              </a:ext>
            </a:extLst>
          </p:cNvPr>
          <p:cNvSpPr>
            <a:spLocks noGrp="1"/>
          </p:cNvSpPr>
          <p:nvPr>
            <p:ph sz="half" idx="1"/>
          </p:nvPr>
        </p:nvSpPr>
        <p:spPr>
          <a:xfrm>
            <a:off x="3780018" y="820034"/>
            <a:ext cx="4082325" cy="416421"/>
          </a:xfrm>
        </p:spPr>
        <p:txBody>
          <a:bodyPr vert="horz" lIns="91440" tIns="45720" rIns="91440" bIns="45720" rtlCol="0" anchor="t">
            <a:normAutofit fontScale="92500" lnSpcReduction="10000"/>
          </a:bodyPr>
          <a:lstStyle/>
          <a:p>
            <a:pPr marL="0" indent="0" algn="ctr">
              <a:buNone/>
            </a:pPr>
            <a:r>
              <a:rPr lang="en-US" b="1">
                <a:solidFill>
                  <a:srgbClr val="2F6B9A"/>
                </a:solidFill>
                <a:latin typeface="Agency FB"/>
                <a:ea typeface="+mn-lt"/>
                <a:cs typeface="+mn-lt"/>
              </a:rPr>
              <a:t>PUSH → SWAP → POP</a:t>
            </a:r>
            <a:endParaRPr lang="en-US" b="1">
              <a:solidFill>
                <a:srgbClr val="2F6B9A"/>
              </a:solidFill>
              <a:latin typeface="Agency FB"/>
            </a:endParaRPr>
          </a:p>
        </p:txBody>
      </p:sp>
      <p:sp>
        <p:nvSpPr>
          <p:cNvPr id="9" name="Content Placeholder 2">
            <a:extLst>
              <a:ext uri="{FF2B5EF4-FFF2-40B4-BE49-F238E27FC236}">
                <a16:creationId xmlns:a16="http://schemas.microsoft.com/office/drawing/2014/main" id="{B2CAC6C8-233E-50EF-E6C7-223B0FCB472D}"/>
              </a:ext>
            </a:extLst>
          </p:cNvPr>
          <p:cNvSpPr txBox="1">
            <a:spLocks/>
          </p:cNvSpPr>
          <p:nvPr/>
        </p:nvSpPr>
        <p:spPr>
          <a:xfrm>
            <a:off x="8104680" y="1497091"/>
            <a:ext cx="4088569" cy="190919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600" b="1">
                <a:solidFill>
                  <a:srgbClr val="2F6B9A"/>
                </a:solidFill>
                <a:latin typeface="Agency FB"/>
                <a:ea typeface="+mn-lt"/>
                <a:cs typeface="+mn-lt"/>
              </a:rPr>
              <a:t>POP</a:t>
            </a:r>
            <a:endParaRPr lang="en-US">
              <a:solidFill>
                <a:srgbClr val="000000"/>
              </a:solidFill>
              <a:latin typeface="Agency FB"/>
              <a:ea typeface="+mn-lt"/>
              <a:cs typeface="+mn-lt"/>
            </a:endParaRPr>
          </a:p>
          <a:p>
            <a:r>
              <a:rPr lang="en-US" sz="2000">
                <a:solidFill>
                  <a:srgbClr val="0D1B2A"/>
                </a:solidFill>
                <a:latin typeface="Calibri"/>
                <a:ea typeface="Calibri"/>
                <a:cs typeface="Calibri"/>
              </a:rPr>
              <a:t>Le </a:t>
            </a:r>
            <a:r>
              <a:rPr lang="en-US" sz="2000" err="1">
                <a:solidFill>
                  <a:srgbClr val="0D1B2A"/>
                </a:solidFill>
                <a:latin typeface="Calibri"/>
                <a:ea typeface="Calibri"/>
                <a:cs typeface="Calibri"/>
              </a:rPr>
              <a:t>routeur</a:t>
            </a:r>
            <a:r>
              <a:rPr lang="en-US" sz="2000">
                <a:solidFill>
                  <a:srgbClr val="0D1B2A"/>
                </a:solidFill>
                <a:latin typeface="Calibri"/>
                <a:ea typeface="Calibri"/>
                <a:cs typeface="Calibri"/>
              </a:rPr>
              <a:t> PE retire le dernier label MPLS. Le </a:t>
            </a:r>
            <a:r>
              <a:rPr lang="en-US" sz="2000" err="1">
                <a:solidFill>
                  <a:srgbClr val="0D1B2A"/>
                </a:solidFill>
                <a:latin typeface="Calibri"/>
                <a:ea typeface="Calibri"/>
                <a:cs typeface="Calibri"/>
              </a:rPr>
              <a:t>paquet</a:t>
            </a:r>
            <a:r>
              <a:rPr lang="en-US" sz="2000">
                <a:solidFill>
                  <a:srgbClr val="0D1B2A"/>
                </a:solidFill>
                <a:latin typeface="Calibri"/>
                <a:ea typeface="Calibri"/>
                <a:cs typeface="Calibri"/>
              </a:rPr>
              <a:t> </a:t>
            </a:r>
            <a:r>
              <a:rPr lang="en-US" sz="2000" err="1">
                <a:solidFill>
                  <a:srgbClr val="0D1B2A"/>
                </a:solidFill>
                <a:latin typeface="Calibri"/>
                <a:ea typeface="Calibri"/>
                <a:cs typeface="Calibri"/>
              </a:rPr>
              <a:t>redevient</a:t>
            </a:r>
            <a:r>
              <a:rPr lang="en-US" sz="2000">
                <a:solidFill>
                  <a:srgbClr val="0D1B2A"/>
                </a:solidFill>
                <a:latin typeface="Calibri"/>
                <a:ea typeface="Calibri"/>
                <a:cs typeface="Calibri"/>
              </a:rPr>
              <a:t> un </a:t>
            </a:r>
            <a:r>
              <a:rPr lang="en-US" sz="2000" err="1">
                <a:solidFill>
                  <a:srgbClr val="0D1B2A"/>
                </a:solidFill>
                <a:latin typeface="Calibri"/>
                <a:ea typeface="Calibri"/>
                <a:cs typeface="Calibri"/>
              </a:rPr>
              <a:t>paquet</a:t>
            </a:r>
            <a:r>
              <a:rPr lang="en-US" sz="2000">
                <a:solidFill>
                  <a:srgbClr val="0D1B2A"/>
                </a:solidFill>
                <a:latin typeface="Calibri"/>
                <a:ea typeface="Calibri"/>
                <a:cs typeface="Calibri"/>
              </a:rPr>
              <a:t> IP </a:t>
            </a:r>
            <a:r>
              <a:rPr lang="en-US" sz="2000" err="1">
                <a:solidFill>
                  <a:srgbClr val="0D1B2A"/>
                </a:solidFill>
                <a:latin typeface="Aptos"/>
                <a:ea typeface="Calibri"/>
                <a:cs typeface="Calibri"/>
              </a:rPr>
              <a:t>classique</a:t>
            </a:r>
            <a:r>
              <a:rPr lang="en-US" sz="2000">
                <a:solidFill>
                  <a:srgbClr val="0D1B2A"/>
                </a:solidFill>
                <a:latin typeface="Calibri"/>
                <a:ea typeface="Calibri"/>
                <a:cs typeface="Calibri"/>
              </a:rPr>
              <a:t> pour le CE.</a:t>
            </a:r>
            <a:endParaRPr lang="en-US" sz="2000">
              <a:solidFill>
                <a:srgbClr val="000000"/>
              </a:solidFill>
              <a:latin typeface="Calibri"/>
              <a:ea typeface="Calibri"/>
              <a:cs typeface="Calibri"/>
            </a:endParaRPr>
          </a:p>
          <a:p>
            <a:pPr marL="0" indent="0">
              <a:buNone/>
            </a:pPr>
            <a:endParaRPr lang="en-US">
              <a:solidFill>
                <a:srgbClr val="000000"/>
              </a:solidFill>
              <a:ea typeface="+mn-lt"/>
              <a:cs typeface="+mn-lt"/>
            </a:endParaRPr>
          </a:p>
          <a:p>
            <a:pPr marL="0" indent="0" algn="ctr">
              <a:buNone/>
            </a:pPr>
            <a:endParaRPr lang="en-US">
              <a:solidFill>
                <a:srgbClr val="000000"/>
              </a:solidFill>
              <a:ea typeface="+mn-lt"/>
              <a:cs typeface="+mn-lt"/>
            </a:endParaRPr>
          </a:p>
        </p:txBody>
      </p:sp>
      <p:sp>
        <p:nvSpPr>
          <p:cNvPr id="11" name="Content Placeholder 2">
            <a:extLst>
              <a:ext uri="{FF2B5EF4-FFF2-40B4-BE49-F238E27FC236}">
                <a16:creationId xmlns:a16="http://schemas.microsoft.com/office/drawing/2014/main" id="{73904DBF-4BC4-42F5-EBB1-E0E83487251C}"/>
              </a:ext>
            </a:extLst>
          </p:cNvPr>
          <p:cNvSpPr txBox="1">
            <a:spLocks/>
          </p:cNvSpPr>
          <p:nvPr/>
        </p:nvSpPr>
        <p:spPr>
          <a:xfrm>
            <a:off x="4073575" y="1494591"/>
            <a:ext cx="4044849" cy="1915437"/>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a:solidFill>
                  <a:srgbClr val="2F6B9A"/>
                </a:solidFill>
                <a:latin typeface="Agency FB"/>
                <a:ea typeface="Calibri"/>
                <a:cs typeface="Calibri"/>
              </a:rPr>
              <a:t>SWAP </a:t>
            </a:r>
            <a:endParaRPr lang="en-US">
              <a:solidFill>
                <a:srgbClr val="000000"/>
              </a:solidFill>
              <a:ea typeface="Calibri"/>
              <a:cs typeface="Calibri"/>
            </a:endParaRPr>
          </a:p>
          <a:p>
            <a:r>
              <a:rPr lang="en-US" sz="2000">
                <a:solidFill>
                  <a:srgbClr val="0D1B2A"/>
                </a:solidFill>
                <a:ea typeface="+mn-lt"/>
                <a:cs typeface="+mn-lt"/>
              </a:rPr>
              <a:t>Le </a:t>
            </a:r>
            <a:r>
              <a:rPr lang="en-US" sz="2000" err="1">
                <a:solidFill>
                  <a:srgbClr val="0D1B2A"/>
                </a:solidFill>
                <a:ea typeface="+mn-lt"/>
                <a:cs typeface="+mn-lt"/>
              </a:rPr>
              <a:t>routeur</a:t>
            </a:r>
            <a:r>
              <a:rPr lang="en-US" sz="2000">
                <a:solidFill>
                  <a:srgbClr val="0D1B2A"/>
                </a:solidFill>
                <a:ea typeface="+mn-lt"/>
                <a:cs typeface="+mn-lt"/>
              </a:rPr>
              <a:t> </a:t>
            </a:r>
            <a:r>
              <a:rPr lang="en-US" sz="2000" b="1">
                <a:solidFill>
                  <a:srgbClr val="0D1B2A"/>
                </a:solidFill>
                <a:ea typeface="+mn-lt"/>
                <a:cs typeface="+mn-lt"/>
              </a:rPr>
              <a:t>P</a:t>
            </a:r>
            <a:r>
              <a:rPr lang="en-US" sz="2000">
                <a:solidFill>
                  <a:srgbClr val="0D1B2A"/>
                </a:solidFill>
                <a:ea typeface="+mn-lt"/>
                <a:cs typeface="+mn-lt"/>
              </a:rPr>
              <a:t> </a:t>
            </a:r>
            <a:r>
              <a:rPr lang="en-US" sz="2000" err="1">
                <a:solidFill>
                  <a:srgbClr val="0D1B2A"/>
                </a:solidFill>
                <a:ea typeface="+mn-lt"/>
                <a:cs typeface="+mn-lt"/>
              </a:rPr>
              <a:t>remplace</a:t>
            </a:r>
            <a:r>
              <a:rPr lang="en-US" sz="2000">
                <a:solidFill>
                  <a:srgbClr val="0D1B2A"/>
                </a:solidFill>
                <a:ea typeface="+mn-lt"/>
                <a:cs typeface="+mn-lt"/>
              </a:rPr>
              <a:t> le label </a:t>
            </a:r>
            <a:r>
              <a:rPr lang="en-US" sz="2000" err="1">
                <a:solidFill>
                  <a:srgbClr val="0D1B2A"/>
                </a:solidFill>
                <a:ea typeface="+mn-lt"/>
                <a:cs typeface="+mn-lt"/>
              </a:rPr>
              <a:t>reçu</a:t>
            </a:r>
            <a:r>
              <a:rPr lang="en-US" sz="2000">
                <a:solidFill>
                  <a:srgbClr val="0D1B2A"/>
                </a:solidFill>
                <a:ea typeface="+mn-lt"/>
                <a:cs typeface="+mn-lt"/>
              </a:rPr>
              <a:t> par un nouveau label </a:t>
            </a:r>
            <a:r>
              <a:rPr lang="en-US" sz="2000" err="1">
                <a:solidFill>
                  <a:srgbClr val="0D1B2A"/>
                </a:solidFill>
                <a:ea typeface="+mn-lt"/>
                <a:cs typeface="+mn-lt"/>
              </a:rPr>
              <a:t>afin</a:t>
            </a:r>
            <a:r>
              <a:rPr lang="en-US" sz="2000">
                <a:solidFill>
                  <a:srgbClr val="0D1B2A"/>
                </a:solidFill>
                <a:ea typeface="+mn-lt"/>
                <a:cs typeface="+mn-lt"/>
              </a:rPr>
              <a:t> </a:t>
            </a:r>
            <a:r>
              <a:rPr lang="en-US" sz="2000" err="1">
                <a:solidFill>
                  <a:srgbClr val="0D1B2A"/>
                </a:solidFill>
                <a:ea typeface="+mn-lt"/>
                <a:cs typeface="+mn-lt"/>
              </a:rPr>
              <a:t>d’acheminer</a:t>
            </a:r>
            <a:r>
              <a:rPr lang="en-US" sz="2000">
                <a:solidFill>
                  <a:srgbClr val="0D1B2A"/>
                </a:solidFill>
                <a:ea typeface="+mn-lt"/>
                <a:cs typeface="+mn-lt"/>
              </a:rPr>
              <a:t> le </a:t>
            </a:r>
            <a:r>
              <a:rPr lang="en-US" sz="2000" err="1">
                <a:solidFill>
                  <a:srgbClr val="0D1B2A"/>
                </a:solidFill>
                <a:ea typeface="+mn-lt"/>
                <a:cs typeface="+mn-lt"/>
              </a:rPr>
              <a:t>paquet</a:t>
            </a:r>
            <a:r>
              <a:rPr lang="en-US" sz="2000">
                <a:solidFill>
                  <a:srgbClr val="0D1B2A"/>
                </a:solidFill>
                <a:ea typeface="+mn-lt"/>
                <a:cs typeface="+mn-lt"/>
              </a:rPr>
              <a:t> vers le prochain </a:t>
            </a:r>
            <a:r>
              <a:rPr lang="en-US" sz="2000" err="1">
                <a:solidFill>
                  <a:srgbClr val="0D1B2A"/>
                </a:solidFill>
                <a:ea typeface="+mn-lt"/>
                <a:cs typeface="+mn-lt"/>
              </a:rPr>
              <a:t>routeur</a:t>
            </a:r>
            <a:r>
              <a:rPr lang="en-US" sz="2000">
                <a:solidFill>
                  <a:srgbClr val="0D1B2A"/>
                </a:solidFill>
                <a:ea typeface="+mn-lt"/>
                <a:cs typeface="+mn-lt"/>
              </a:rPr>
              <a:t>.</a:t>
            </a:r>
            <a:endParaRPr lang="en-US">
              <a:ea typeface="+mn-lt"/>
              <a:cs typeface="+mn-lt"/>
            </a:endParaRPr>
          </a:p>
          <a:p>
            <a:pPr marL="0" indent="0" algn="ctr">
              <a:buNone/>
            </a:pPr>
            <a:endParaRPr lang="en-US" sz="2400" b="1">
              <a:solidFill>
                <a:srgbClr val="000000"/>
              </a:solidFill>
              <a:ea typeface="Calibri"/>
              <a:cs typeface="Calibri"/>
            </a:endParaRPr>
          </a:p>
          <a:p>
            <a:endParaRPr lang="en-US">
              <a:solidFill>
                <a:srgbClr val="000000"/>
              </a:solidFill>
              <a:ea typeface="+mn-lt"/>
              <a:cs typeface="+mn-lt"/>
            </a:endParaRPr>
          </a:p>
        </p:txBody>
      </p:sp>
      <p:pic>
        <p:nvPicPr>
          <p:cNvPr id="12" name="Picture 11">
            <a:extLst>
              <a:ext uri="{FF2B5EF4-FFF2-40B4-BE49-F238E27FC236}">
                <a16:creationId xmlns:a16="http://schemas.microsoft.com/office/drawing/2014/main" id="{C4096C6D-8FE0-E577-759B-8CA29256D00D}"/>
              </a:ext>
            </a:extLst>
          </p:cNvPr>
          <p:cNvPicPr>
            <a:picLocks noChangeAspect="1"/>
          </p:cNvPicPr>
          <p:nvPr/>
        </p:nvPicPr>
        <p:blipFill>
          <a:blip r:embed="rId4"/>
          <a:srcRect l="25365" t="21029" r="25491" b="19723"/>
          <a:stretch>
            <a:fillRect/>
          </a:stretch>
        </p:blipFill>
        <p:spPr>
          <a:xfrm>
            <a:off x="3514753" y="3424771"/>
            <a:ext cx="4622508" cy="3208978"/>
          </a:xfrm>
          <a:prstGeom prst="rect">
            <a:avLst/>
          </a:prstGeom>
        </p:spPr>
      </p:pic>
      <p:sp>
        <p:nvSpPr>
          <p:cNvPr id="13" name="Oval 12">
            <a:extLst>
              <a:ext uri="{FF2B5EF4-FFF2-40B4-BE49-F238E27FC236}">
                <a16:creationId xmlns:a16="http://schemas.microsoft.com/office/drawing/2014/main" id="{C0D88DAF-246D-BBCA-8ED7-BFD9F2C96B7C}"/>
              </a:ext>
            </a:extLst>
          </p:cNvPr>
          <p:cNvSpPr/>
          <p:nvPr/>
        </p:nvSpPr>
        <p:spPr>
          <a:xfrm>
            <a:off x="5271541" y="5771213"/>
            <a:ext cx="1249180" cy="51216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a:solidFill>
                  <a:srgbClr val="FFC000"/>
                </a:solidFill>
                <a:latin typeface="Aptos"/>
              </a:rPr>
              <a:t>ISP</a:t>
            </a:r>
            <a:endParaRPr lang="en-US">
              <a:solidFill>
                <a:srgbClr val="FFC000"/>
              </a:solidFill>
            </a:endParaRPr>
          </a:p>
        </p:txBody>
      </p:sp>
      <p:sp>
        <p:nvSpPr>
          <p:cNvPr id="2" name="Content Placeholder 2">
            <a:extLst>
              <a:ext uri="{FF2B5EF4-FFF2-40B4-BE49-F238E27FC236}">
                <a16:creationId xmlns:a16="http://schemas.microsoft.com/office/drawing/2014/main" id="{D7974D6F-76B8-7201-E1F9-5986DFFDB1A6}"/>
              </a:ext>
            </a:extLst>
          </p:cNvPr>
          <p:cNvSpPr txBox="1">
            <a:spLocks/>
          </p:cNvSpPr>
          <p:nvPr/>
        </p:nvSpPr>
        <p:spPr>
          <a:xfrm>
            <a:off x="1246" y="1494591"/>
            <a:ext cx="4044849" cy="1915437"/>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600" b="1">
                <a:solidFill>
                  <a:srgbClr val="2F6B9A"/>
                </a:solidFill>
                <a:latin typeface="Agency FB"/>
                <a:ea typeface="Calibri"/>
                <a:cs typeface="Calibri"/>
              </a:rPr>
              <a:t>PUSH </a:t>
            </a:r>
            <a:endParaRPr lang="en-US"/>
          </a:p>
          <a:p>
            <a:r>
              <a:rPr lang="en-US" sz="2000">
                <a:solidFill>
                  <a:srgbClr val="0D1B2A"/>
                </a:solidFill>
                <a:ea typeface="+mn-lt"/>
                <a:cs typeface="+mn-lt"/>
              </a:rPr>
              <a:t>Le </a:t>
            </a:r>
            <a:r>
              <a:rPr lang="en-US" sz="2000" err="1">
                <a:solidFill>
                  <a:srgbClr val="0D1B2A"/>
                </a:solidFill>
                <a:ea typeface="+mn-lt"/>
                <a:cs typeface="+mn-lt"/>
              </a:rPr>
              <a:t>routeur</a:t>
            </a:r>
            <a:r>
              <a:rPr lang="en-US" sz="2000">
                <a:solidFill>
                  <a:srgbClr val="0D1B2A"/>
                </a:solidFill>
                <a:ea typeface="+mn-lt"/>
                <a:cs typeface="+mn-lt"/>
              </a:rPr>
              <a:t> </a:t>
            </a:r>
            <a:r>
              <a:rPr lang="en-US" sz="2000" b="1">
                <a:solidFill>
                  <a:srgbClr val="0D1B2A"/>
                </a:solidFill>
                <a:ea typeface="+mn-lt"/>
                <a:cs typeface="+mn-lt"/>
              </a:rPr>
              <a:t>PE </a:t>
            </a:r>
            <a:r>
              <a:rPr lang="en-US" sz="2000" err="1">
                <a:solidFill>
                  <a:srgbClr val="0D1B2A"/>
                </a:solidFill>
                <a:ea typeface="+mn-lt"/>
                <a:cs typeface="+mn-lt"/>
              </a:rPr>
              <a:t>ajoute</a:t>
            </a:r>
            <a:r>
              <a:rPr lang="en-US" sz="2000">
                <a:solidFill>
                  <a:srgbClr val="0D1B2A"/>
                </a:solidFill>
                <a:ea typeface="+mn-lt"/>
                <a:cs typeface="+mn-lt"/>
              </a:rPr>
              <a:t> un label MPLS au </a:t>
            </a:r>
            <a:r>
              <a:rPr lang="en-US" sz="2000" err="1">
                <a:solidFill>
                  <a:srgbClr val="0D1B2A"/>
                </a:solidFill>
                <a:ea typeface="+mn-lt"/>
                <a:cs typeface="+mn-lt"/>
              </a:rPr>
              <a:t>paquet</a:t>
            </a:r>
            <a:r>
              <a:rPr lang="en-US" sz="2000">
                <a:solidFill>
                  <a:srgbClr val="0D1B2A"/>
                </a:solidFill>
                <a:ea typeface="+mn-lt"/>
                <a:cs typeface="+mn-lt"/>
              </a:rPr>
              <a:t> IP </a:t>
            </a:r>
            <a:r>
              <a:rPr lang="en-US" sz="2000" err="1">
                <a:solidFill>
                  <a:srgbClr val="0D1B2A"/>
                </a:solidFill>
                <a:ea typeface="+mn-lt"/>
                <a:cs typeface="+mn-lt"/>
              </a:rPr>
              <a:t>lorsqu’il</a:t>
            </a:r>
            <a:r>
              <a:rPr lang="en-US" sz="2000">
                <a:solidFill>
                  <a:srgbClr val="0D1B2A"/>
                </a:solidFill>
                <a:ea typeface="+mn-lt"/>
                <a:cs typeface="+mn-lt"/>
              </a:rPr>
              <a:t> entre dans le réseau MPLS.</a:t>
            </a:r>
            <a:endParaRPr lang="en-US" sz="2000">
              <a:solidFill>
                <a:srgbClr val="000000"/>
              </a:solidFill>
              <a:latin typeface="Aptos"/>
            </a:endParaRPr>
          </a:p>
          <a:p>
            <a:pPr marL="0" indent="0" algn="ctr">
              <a:buNone/>
            </a:pPr>
            <a:endParaRPr lang="en-US" sz="2400" b="1">
              <a:solidFill>
                <a:srgbClr val="000000"/>
              </a:solidFill>
              <a:latin typeface="Aptos"/>
              <a:ea typeface="Calibri"/>
              <a:cs typeface="Calibri"/>
            </a:endParaRPr>
          </a:p>
          <a:p>
            <a:endParaRPr lang="en-US"/>
          </a:p>
        </p:txBody>
      </p:sp>
    </p:spTree>
    <p:extLst>
      <p:ext uri="{BB962C8B-B14F-4D97-AF65-F5344CB8AC3E}">
        <p14:creationId xmlns:p14="http://schemas.microsoft.com/office/powerpoint/2010/main" val="1271573349"/>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5B8B7D01-3FF6-BD3A-9003-F08280C1229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CA78C87-09D8-D986-C355-0C5710E848E3}"/>
              </a:ext>
            </a:extLst>
          </p:cNvPr>
          <p:cNvSpPr/>
          <p:nvPr/>
        </p:nvSpPr>
        <p:spPr>
          <a:xfrm>
            <a:off x="1592097" y="112244"/>
            <a:ext cx="2576346" cy="646331"/>
          </a:xfrm>
          <a:prstGeom prst="rect">
            <a:avLst/>
          </a:prstGeom>
        </p:spPr>
        <p:txBody>
          <a:bodyPr wrap="none" lIns="91440" tIns="45720" rIns="91440" bIns="45720" anchor="t">
            <a:spAutoFit/>
          </a:bodyPr>
          <a:lstStyle/>
          <a:p>
            <a:pPr defTabSz="446088"/>
            <a:r>
              <a:rPr lang="en-US" sz="3600" b="1">
                <a:solidFill>
                  <a:srgbClr val="2F6B9A"/>
                </a:solidFill>
                <a:latin typeface="Agency FB"/>
                <a:ea typeface="+mn-lt"/>
                <a:cs typeface="+mn-lt"/>
              </a:rPr>
              <a:t>RIB, LIB ET LFIB</a:t>
            </a:r>
            <a:endParaRPr lang="en-US" b="1">
              <a:solidFill>
                <a:srgbClr val="2F6B9A"/>
              </a:solidFill>
              <a:latin typeface="Agency FB"/>
            </a:endParaRPr>
          </a:p>
        </p:txBody>
      </p:sp>
      <p:pic>
        <p:nvPicPr>
          <p:cNvPr id="6" name="Image 5">
            <a:extLst>
              <a:ext uri="{FF2B5EF4-FFF2-40B4-BE49-F238E27FC236}">
                <a16:creationId xmlns:a16="http://schemas.microsoft.com/office/drawing/2014/main" id="{F0553FA3-4727-BC54-BA37-835469FD5DF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4118" y="8935"/>
            <a:ext cx="1453171" cy="1492350"/>
          </a:xfrm>
          <a:prstGeom prst="rect">
            <a:avLst/>
          </a:prstGeom>
        </p:spPr>
      </p:pic>
      <p:sp>
        <p:nvSpPr>
          <p:cNvPr id="89" name="ZoneTexte 6">
            <a:extLst>
              <a:ext uri="{FF2B5EF4-FFF2-40B4-BE49-F238E27FC236}">
                <a16:creationId xmlns:a16="http://schemas.microsoft.com/office/drawing/2014/main" id="{98EBCB05-C018-C1C0-4F46-0066E3725F9A}"/>
              </a:ext>
            </a:extLst>
          </p:cNvPr>
          <p:cNvSpPr txBox="1"/>
          <p:nvPr/>
        </p:nvSpPr>
        <p:spPr>
          <a:xfrm>
            <a:off x="137625" y="1625323"/>
            <a:ext cx="11916459" cy="954107"/>
          </a:xfrm>
          <a:prstGeom prst="rect">
            <a:avLst/>
          </a:prstGeom>
          <a:noFill/>
        </p:spPr>
        <p:txBody>
          <a:bodyPr wrap="square" lIns="91440" tIns="45720" rIns="91440" bIns="45720" rtlCol="0" anchor="t">
            <a:spAutoFit/>
          </a:bodyPr>
          <a:lstStyle/>
          <a:p>
            <a:pPr algn="just"/>
            <a:r>
              <a:rPr lang="fr-FR" sz="2800" b="1">
                <a:solidFill>
                  <a:srgbClr val="2F6B9A"/>
                </a:solidFill>
                <a:ea typeface="+mn-lt"/>
                <a:cs typeface="+mn-lt"/>
              </a:rPr>
              <a:t>RIB - </a:t>
            </a:r>
            <a:r>
              <a:rPr lang="fr-FR" sz="2800" b="1" err="1">
                <a:solidFill>
                  <a:srgbClr val="2F6B9A"/>
                </a:solidFill>
                <a:ea typeface="+mn-lt"/>
                <a:cs typeface="+mn-lt"/>
              </a:rPr>
              <a:t>Routing</a:t>
            </a:r>
            <a:r>
              <a:rPr lang="fr-FR" sz="2800" b="1">
                <a:solidFill>
                  <a:srgbClr val="2F6B9A"/>
                </a:solidFill>
                <a:ea typeface="+mn-lt"/>
                <a:cs typeface="+mn-lt"/>
              </a:rPr>
              <a:t> Information Base </a:t>
            </a:r>
            <a:r>
              <a:rPr lang="fr-FR" sz="2800">
                <a:solidFill>
                  <a:srgbClr val="163A5F"/>
                </a:solidFill>
                <a:ea typeface="+mn-lt"/>
                <a:cs typeface="+mn-lt"/>
              </a:rPr>
              <a:t>La </a:t>
            </a:r>
            <a:r>
              <a:rPr lang="fr-FR" sz="2800" b="1">
                <a:solidFill>
                  <a:srgbClr val="163A5F"/>
                </a:solidFill>
                <a:ea typeface="+mn-lt"/>
                <a:cs typeface="+mn-lt"/>
              </a:rPr>
              <a:t>RIB </a:t>
            </a:r>
            <a:r>
              <a:rPr lang="fr-FR" sz="2800">
                <a:solidFill>
                  <a:srgbClr val="163A5F"/>
                </a:solidFill>
                <a:ea typeface="+mn-lt"/>
                <a:cs typeface="+mn-lt"/>
              </a:rPr>
              <a:t>contient les routes IP apprises par les protocoles de routage comme IS-IS, OSPF ou BGP.</a:t>
            </a:r>
            <a:endParaRPr lang="en-US" b="1">
              <a:solidFill>
                <a:srgbClr val="163A5F"/>
              </a:solidFill>
            </a:endParaRPr>
          </a:p>
        </p:txBody>
      </p:sp>
      <p:sp>
        <p:nvSpPr>
          <p:cNvPr id="2" name="ZoneTexte 6">
            <a:extLst>
              <a:ext uri="{FF2B5EF4-FFF2-40B4-BE49-F238E27FC236}">
                <a16:creationId xmlns:a16="http://schemas.microsoft.com/office/drawing/2014/main" id="{B850AF82-22E9-5F6D-0539-90F359317EFC}"/>
              </a:ext>
            </a:extLst>
          </p:cNvPr>
          <p:cNvSpPr txBox="1"/>
          <p:nvPr/>
        </p:nvSpPr>
        <p:spPr>
          <a:xfrm>
            <a:off x="137624" y="3093109"/>
            <a:ext cx="11916459" cy="954107"/>
          </a:xfrm>
          <a:prstGeom prst="rect">
            <a:avLst/>
          </a:prstGeom>
          <a:noFill/>
        </p:spPr>
        <p:txBody>
          <a:bodyPr wrap="square" lIns="91440" tIns="45720" rIns="91440" bIns="45720" rtlCol="0" anchor="t">
            <a:spAutoFit/>
          </a:bodyPr>
          <a:lstStyle/>
          <a:p>
            <a:pPr algn="just"/>
            <a:r>
              <a:rPr lang="fr-FR" sz="2800" b="1">
                <a:solidFill>
                  <a:srgbClr val="2F6B9A"/>
                </a:solidFill>
                <a:ea typeface="+mn-lt"/>
                <a:cs typeface="+mn-lt"/>
              </a:rPr>
              <a:t>LIB - Label Information Base</a:t>
            </a:r>
            <a:r>
              <a:rPr lang="fr-FR" sz="2800">
                <a:solidFill>
                  <a:srgbClr val="163A5F"/>
                </a:solidFill>
                <a:ea typeface="+mn-lt"/>
                <a:cs typeface="+mn-lt"/>
              </a:rPr>
              <a:t> La </a:t>
            </a:r>
            <a:r>
              <a:rPr lang="fr-FR" sz="2800" b="1">
                <a:solidFill>
                  <a:srgbClr val="163A5F"/>
                </a:solidFill>
                <a:ea typeface="+mn-lt"/>
                <a:cs typeface="+mn-lt"/>
              </a:rPr>
              <a:t>LIB </a:t>
            </a:r>
            <a:r>
              <a:rPr lang="fr-FR" sz="2800">
                <a:solidFill>
                  <a:srgbClr val="163A5F"/>
                </a:solidFill>
                <a:ea typeface="+mn-lt"/>
                <a:cs typeface="+mn-lt"/>
              </a:rPr>
              <a:t>contient les labels MPLS associés aux préfixes IP, généralement appris avec LDP.</a:t>
            </a:r>
            <a:endParaRPr lang="en-US">
              <a:ea typeface="+mn-lt"/>
              <a:cs typeface="+mn-lt"/>
            </a:endParaRPr>
          </a:p>
        </p:txBody>
      </p:sp>
      <p:sp>
        <p:nvSpPr>
          <p:cNvPr id="3" name="ZoneTexte 6">
            <a:extLst>
              <a:ext uri="{FF2B5EF4-FFF2-40B4-BE49-F238E27FC236}">
                <a16:creationId xmlns:a16="http://schemas.microsoft.com/office/drawing/2014/main" id="{DCEC3456-D8AB-AAF9-8166-B92B4578D1AB}"/>
              </a:ext>
            </a:extLst>
          </p:cNvPr>
          <p:cNvSpPr txBox="1"/>
          <p:nvPr/>
        </p:nvSpPr>
        <p:spPr>
          <a:xfrm>
            <a:off x="137623" y="4560896"/>
            <a:ext cx="11916459" cy="954107"/>
          </a:xfrm>
          <a:prstGeom prst="rect">
            <a:avLst/>
          </a:prstGeom>
          <a:noFill/>
        </p:spPr>
        <p:txBody>
          <a:bodyPr wrap="square" lIns="91440" tIns="45720" rIns="91440" bIns="45720" rtlCol="0" anchor="t">
            <a:spAutoFit/>
          </a:bodyPr>
          <a:lstStyle/>
          <a:p>
            <a:pPr algn="just"/>
            <a:r>
              <a:rPr lang="fr-FR" sz="2800" b="1">
                <a:solidFill>
                  <a:srgbClr val="2F6B9A"/>
                </a:solidFill>
                <a:ea typeface="+mn-lt"/>
                <a:cs typeface="+mn-lt"/>
              </a:rPr>
              <a:t>LFIB - Label </a:t>
            </a:r>
            <a:r>
              <a:rPr lang="fr-FR" sz="2800" b="1" err="1">
                <a:solidFill>
                  <a:srgbClr val="2F6B9A"/>
                </a:solidFill>
                <a:ea typeface="+mn-lt"/>
                <a:cs typeface="+mn-lt"/>
              </a:rPr>
              <a:t>Forwarding</a:t>
            </a:r>
            <a:r>
              <a:rPr lang="fr-FR" sz="2800" b="1">
                <a:solidFill>
                  <a:srgbClr val="2F6B9A"/>
                </a:solidFill>
                <a:ea typeface="+mn-lt"/>
                <a:cs typeface="+mn-lt"/>
              </a:rPr>
              <a:t> Information Base</a:t>
            </a:r>
            <a:r>
              <a:rPr lang="fr-FR" sz="2800">
                <a:solidFill>
                  <a:srgbClr val="163A5F"/>
                </a:solidFill>
                <a:ea typeface="+mn-lt"/>
                <a:cs typeface="+mn-lt"/>
              </a:rPr>
              <a:t> La </a:t>
            </a:r>
            <a:r>
              <a:rPr lang="fr-FR" sz="2800" b="1">
                <a:solidFill>
                  <a:srgbClr val="163A5F"/>
                </a:solidFill>
                <a:ea typeface="+mn-lt"/>
                <a:cs typeface="+mn-lt"/>
              </a:rPr>
              <a:t>LFIB </a:t>
            </a:r>
            <a:r>
              <a:rPr lang="fr-FR" sz="2800">
                <a:solidFill>
                  <a:srgbClr val="163A5F"/>
                </a:solidFill>
                <a:ea typeface="+mn-lt"/>
                <a:cs typeface="+mn-lt"/>
              </a:rPr>
              <a:t>est utilisée pour transférer réellement les paquets MPLS en fonction des labels.</a:t>
            </a:r>
            <a:endParaRPr lang="en-US">
              <a:ea typeface="+mn-lt"/>
              <a:cs typeface="+mn-lt"/>
            </a:endParaRPr>
          </a:p>
        </p:txBody>
      </p:sp>
      <p:pic>
        <p:nvPicPr>
          <p:cNvPr id="5" name="Picture 4" descr="A black and white text&#10;&#10;AI-generated content may be incorrect.">
            <a:extLst>
              <a:ext uri="{FF2B5EF4-FFF2-40B4-BE49-F238E27FC236}">
                <a16:creationId xmlns:a16="http://schemas.microsoft.com/office/drawing/2014/main" id="{0A87092D-21BA-E24C-39FC-738113CAFE7D}"/>
              </a:ext>
            </a:extLst>
          </p:cNvPr>
          <p:cNvPicPr>
            <a:picLocks noChangeAspect="1"/>
          </p:cNvPicPr>
          <p:nvPr/>
        </p:nvPicPr>
        <p:blipFill>
          <a:blip r:embed="rId4"/>
          <a:stretch>
            <a:fillRect/>
          </a:stretch>
        </p:blipFill>
        <p:spPr>
          <a:xfrm>
            <a:off x="4583242" y="2578464"/>
            <a:ext cx="2438400" cy="514350"/>
          </a:xfrm>
          <a:prstGeom prst="rect">
            <a:avLst/>
          </a:prstGeom>
        </p:spPr>
      </p:pic>
      <p:pic>
        <p:nvPicPr>
          <p:cNvPr id="7" name="Picture 6" descr="A white text on a black background&#10;&#10;AI-generated content may be incorrect.">
            <a:extLst>
              <a:ext uri="{FF2B5EF4-FFF2-40B4-BE49-F238E27FC236}">
                <a16:creationId xmlns:a16="http://schemas.microsoft.com/office/drawing/2014/main" id="{D0D8D1DB-4310-A347-FD0C-BDA502415A34}"/>
              </a:ext>
            </a:extLst>
          </p:cNvPr>
          <p:cNvPicPr>
            <a:picLocks noChangeAspect="1"/>
          </p:cNvPicPr>
          <p:nvPr/>
        </p:nvPicPr>
        <p:blipFill>
          <a:blip r:embed="rId5"/>
          <a:stretch>
            <a:fillRect/>
          </a:stretch>
        </p:blipFill>
        <p:spPr>
          <a:xfrm>
            <a:off x="4087943" y="4046251"/>
            <a:ext cx="3429000" cy="514350"/>
          </a:xfrm>
          <a:prstGeom prst="rect">
            <a:avLst/>
          </a:prstGeom>
        </p:spPr>
      </p:pic>
      <p:pic>
        <p:nvPicPr>
          <p:cNvPr id="8" name="Picture 7" descr="A black and white sign with white text&#10;&#10;AI-generated content may be incorrect.">
            <a:extLst>
              <a:ext uri="{FF2B5EF4-FFF2-40B4-BE49-F238E27FC236}">
                <a16:creationId xmlns:a16="http://schemas.microsoft.com/office/drawing/2014/main" id="{D0D80222-D101-7F16-469E-AAED39985692}"/>
              </a:ext>
            </a:extLst>
          </p:cNvPr>
          <p:cNvPicPr>
            <a:picLocks noChangeAspect="1"/>
          </p:cNvPicPr>
          <p:nvPr/>
        </p:nvPicPr>
        <p:blipFill>
          <a:blip r:embed="rId6"/>
          <a:stretch>
            <a:fillRect/>
          </a:stretch>
        </p:blipFill>
        <p:spPr>
          <a:xfrm>
            <a:off x="3868867" y="5513725"/>
            <a:ext cx="3867150" cy="552450"/>
          </a:xfrm>
          <a:prstGeom prst="rect">
            <a:avLst/>
          </a:prstGeom>
        </p:spPr>
      </p:pic>
    </p:spTree>
    <p:extLst>
      <p:ext uri="{BB962C8B-B14F-4D97-AF65-F5344CB8AC3E}">
        <p14:creationId xmlns:p14="http://schemas.microsoft.com/office/powerpoint/2010/main" val="2368532207"/>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hape 16"/>
          <p:cNvSpPr/>
          <p:nvPr/>
        </p:nvSpPr>
        <p:spPr>
          <a:xfrm>
            <a:off x="5843665" y="2122963"/>
            <a:ext cx="0" cy="1422740"/>
          </a:xfrm>
          <a:prstGeom prst="line">
            <a:avLst/>
          </a:prstGeom>
          <a:noFill/>
          <a:ln w="19050">
            <a:solidFill>
              <a:srgbClr val="00BCD4"/>
            </a:solidFill>
            <a:prstDash val="dash"/>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3" name="Text 1"/>
          <p:cNvSpPr/>
          <p:nvPr/>
        </p:nvSpPr>
        <p:spPr>
          <a:xfrm>
            <a:off x="381101" y="1"/>
            <a:ext cx="11445139" cy="64846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3700" b="1">
                <a:solidFill>
                  <a:srgbClr val="D97706"/>
                </a:solidFill>
                <a:latin typeface="Agency FB"/>
              </a:rPr>
              <a:t>Structure d'un label MPLS</a:t>
            </a:r>
            <a:endParaRPr lang="en-US" sz="3700">
              <a:solidFill>
                <a:srgbClr val="D97706"/>
              </a:solidFill>
              <a:latin typeface="Agency FB"/>
            </a:endParaRPr>
          </a:p>
        </p:txBody>
      </p:sp>
      <p:sp>
        <p:nvSpPr>
          <p:cNvPr id="4" name="Shape 2"/>
          <p:cNvSpPr/>
          <p:nvPr/>
        </p:nvSpPr>
        <p:spPr>
          <a:xfrm>
            <a:off x="442609" y="1147603"/>
            <a:ext cx="4876800" cy="975360"/>
          </a:xfrm>
          <a:prstGeom prst="rect">
            <a:avLst/>
          </a:prstGeom>
          <a:solidFill>
            <a:srgbClr val="1565C0"/>
          </a:solidFill>
          <a:ln w="12700">
            <a:solidFill>
              <a:srgbClr val="1565C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5" name="Text 3"/>
          <p:cNvSpPr/>
          <p:nvPr/>
        </p:nvSpPr>
        <p:spPr>
          <a:xfrm>
            <a:off x="442609" y="1147603"/>
            <a:ext cx="4876800" cy="9753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333" b="1">
                <a:solidFill>
                  <a:srgbClr val="FFFFFF"/>
                </a:solidFill>
              </a:rPr>
              <a:t>Label</a:t>
            </a:r>
            <a:endParaRPr lang="en-US" sz="1333"/>
          </a:p>
          <a:p>
            <a:pPr marL="0" indent="0" algn="ctr">
              <a:buNone/>
            </a:pPr>
            <a:r>
              <a:rPr lang="en-US" sz="1333" b="1">
                <a:solidFill>
                  <a:srgbClr val="FFFFFF"/>
                </a:solidFill>
              </a:rPr>
              <a:t>20 bits</a:t>
            </a:r>
            <a:endParaRPr lang="en-US" sz="1333"/>
          </a:p>
        </p:txBody>
      </p:sp>
      <p:sp>
        <p:nvSpPr>
          <p:cNvPr id="6" name="Shape 4"/>
          <p:cNvSpPr/>
          <p:nvPr/>
        </p:nvSpPr>
        <p:spPr>
          <a:xfrm>
            <a:off x="5319409" y="1147603"/>
            <a:ext cx="1097280" cy="975360"/>
          </a:xfrm>
          <a:prstGeom prst="rect">
            <a:avLst/>
          </a:prstGeom>
          <a:solidFill>
            <a:srgbClr val="00BCD4"/>
          </a:solidFill>
          <a:ln w="12700">
            <a:solidFill>
              <a:srgbClr val="00BCD4"/>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7" name="Text 5"/>
          <p:cNvSpPr/>
          <p:nvPr/>
        </p:nvSpPr>
        <p:spPr>
          <a:xfrm>
            <a:off x="5319409" y="1147603"/>
            <a:ext cx="1097280" cy="9753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333" b="1">
                <a:solidFill>
                  <a:srgbClr val="FFFFFF"/>
                </a:solidFill>
              </a:rPr>
              <a:t>TC/EXP</a:t>
            </a:r>
            <a:endParaRPr lang="en-US" sz="1333"/>
          </a:p>
          <a:p>
            <a:pPr marL="0" indent="0" algn="ctr">
              <a:buNone/>
            </a:pPr>
            <a:r>
              <a:rPr lang="en-US" sz="1333" b="1">
                <a:solidFill>
                  <a:srgbClr val="FFFFFF"/>
                </a:solidFill>
              </a:rPr>
              <a:t>3 bits</a:t>
            </a:r>
            <a:endParaRPr lang="en-US" sz="1333"/>
          </a:p>
        </p:txBody>
      </p:sp>
      <p:sp>
        <p:nvSpPr>
          <p:cNvPr id="8" name="Shape 6"/>
          <p:cNvSpPr/>
          <p:nvPr/>
        </p:nvSpPr>
        <p:spPr>
          <a:xfrm>
            <a:off x="6416689" y="1147603"/>
            <a:ext cx="853440" cy="975360"/>
          </a:xfrm>
          <a:prstGeom prst="rect">
            <a:avLst/>
          </a:prstGeom>
          <a:solidFill>
            <a:srgbClr val="E65100"/>
          </a:solidFill>
          <a:ln w="12700">
            <a:solidFill>
              <a:srgbClr val="E6510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9" name="Text 7"/>
          <p:cNvSpPr/>
          <p:nvPr/>
        </p:nvSpPr>
        <p:spPr>
          <a:xfrm>
            <a:off x="6416689" y="1147603"/>
            <a:ext cx="853440" cy="9753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333" b="1">
                <a:solidFill>
                  <a:srgbClr val="FFFFFF"/>
                </a:solidFill>
              </a:rPr>
              <a:t>S</a:t>
            </a:r>
            <a:endParaRPr lang="en-US" sz="1333"/>
          </a:p>
          <a:p>
            <a:pPr marL="0" indent="0" algn="ctr">
              <a:buNone/>
            </a:pPr>
            <a:r>
              <a:rPr lang="en-US" sz="1333" b="1">
                <a:solidFill>
                  <a:srgbClr val="FFFFFF"/>
                </a:solidFill>
              </a:rPr>
              <a:t>1 bit</a:t>
            </a:r>
            <a:endParaRPr lang="en-US" sz="1333"/>
          </a:p>
        </p:txBody>
      </p:sp>
      <p:sp>
        <p:nvSpPr>
          <p:cNvPr id="10" name="Shape 8"/>
          <p:cNvSpPr/>
          <p:nvPr/>
        </p:nvSpPr>
        <p:spPr>
          <a:xfrm>
            <a:off x="7270129" y="1147603"/>
            <a:ext cx="1706880" cy="975360"/>
          </a:xfrm>
          <a:prstGeom prst="rect">
            <a:avLst/>
          </a:prstGeom>
          <a:solidFill>
            <a:srgbClr val="C62828"/>
          </a:solidFill>
          <a:ln w="12700">
            <a:solidFill>
              <a:srgbClr val="C62828"/>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11" name="Text 9"/>
          <p:cNvSpPr/>
          <p:nvPr/>
        </p:nvSpPr>
        <p:spPr>
          <a:xfrm>
            <a:off x="7270129" y="1147603"/>
            <a:ext cx="1706880" cy="9753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333" b="1">
                <a:solidFill>
                  <a:srgbClr val="FFFFFF"/>
                </a:solidFill>
              </a:rPr>
              <a:t>TTL</a:t>
            </a:r>
            <a:endParaRPr lang="en-US" sz="1333"/>
          </a:p>
          <a:p>
            <a:pPr marL="0" indent="0" algn="ctr">
              <a:buNone/>
            </a:pPr>
            <a:r>
              <a:rPr lang="en-US" sz="1333" b="1">
                <a:solidFill>
                  <a:srgbClr val="FFFFFF"/>
                </a:solidFill>
              </a:rPr>
              <a:t>8 bits</a:t>
            </a:r>
            <a:endParaRPr lang="en-US" sz="1333"/>
          </a:p>
        </p:txBody>
      </p:sp>
      <p:sp>
        <p:nvSpPr>
          <p:cNvPr id="12" name="Shape 10"/>
          <p:cNvSpPr/>
          <p:nvPr/>
        </p:nvSpPr>
        <p:spPr>
          <a:xfrm>
            <a:off x="442609" y="2122963"/>
            <a:ext cx="8534400" cy="426720"/>
          </a:xfrm>
          <a:prstGeom prst="rect">
            <a:avLst/>
          </a:prstGeom>
          <a:solidFill>
            <a:srgbClr val="0D1B2A"/>
          </a:solidFill>
          <a:ln w="12700">
            <a:solidFill>
              <a:srgbClr val="0D1B2A"/>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13" name="Text 11"/>
          <p:cNvSpPr/>
          <p:nvPr/>
        </p:nvSpPr>
        <p:spPr>
          <a:xfrm>
            <a:off x="442609" y="2122963"/>
            <a:ext cx="8534400" cy="42672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en-US" sz="1467" b="1">
                <a:solidFill>
                  <a:srgbClr val="FFFFFF"/>
                </a:solidFill>
              </a:rPr>
              <a:t>En-tête MPLS total = 32 bits (4 octets)</a:t>
            </a:r>
            <a:endParaRPr lang="en-US" sz="1467"/>
          </a:p>
        </p:txBody>
      </p:sp>
      <p:sp>
        <p:nvSpPr>
          <p:cNvPr id="14" name="Shape 12"/>
          <p:cNvSpPr/>
          <p:nvPr/>
        </p:nvSpPr>
        <p:spPr>
          <a:xfrm>
            <a:off x="442609" y="2722335"/>
            <a:ext cx="4876800" cy="733975"/>
          </a:xfrm>
          <a:prstGeom prst="rect">
            <a:avLst/>
          </a:prstGeom>
          <a:solidFill>
            <a:srgbClr val="E3F2FD"/>
          </a:solidFill>
          <a:ln w="19050">
            <a:solidFill>
              <a:srgbClr val="1565C0"/>
            </a:solidFill>
            <a:prstDash val="solid"/>
          </a:ln>
          <a:effectLst>
            <a:outerShdw blurRad="50800" dist="25400" dir="8100000" algn="bl" rotWithShape="0">
              <a:srgbClr val="000000">
                <a:alpha val="8000"/>
              </a:srgbClr>
            </a:outerShdw>
          </a:effectLst>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15" name="Shape 13"/>
          <p:cNvSpPr/>
          <p:nvPr/>
        </p:nvSpPr>
        <p:spPr>
          <a:xfrm>
            <a:off x="2856625" y="2122963"/>
            <a:ext cx="0" cy="609600"/>
          </a:xfrm>
          <a:prstGeom prst="line">
            <a:avLst/>
          </a:prstGeom>
          <a:noFill/>
          <a:ln w="19050">
            <a:solidFill>
              <a:srgbClr val="1565C0"/>
            </a:solidFill>
            <a:prstDash val="dash"/>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16" name="Text 14"/>
          <p:cNvSpPr/>
          <p:nvPr/>
        </p:nvSpPr>
        <p:spPr>
          <a:xfrm>
            <a:off x="637313" y="2799415"/>
            <a:ext cx="4681728" cy="556208"/>
          </a:xfrm>
          <a:prstGeom prst="rect">
            <a:avLst/>
          </a:prstGeom>
          <a:noFill/>
          <a:ln/>
        </p:spPr>
        <p:txBody>
          <a:bodyPr wrap="square" lIns="121920" tIns="60960" rIns="121920" bIns="6096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227965" indent="-227965">
              <a:buFont typeface="Arial"/>
              <a:buChar char="•"/>
            </a:pPr>
            <a:r>
              <a:rPr lang="en-US" sz="1600" b="1">
                <a:solidFill>
                  <a:srgbClr val="0D1B2A"/>
                </a:solidFill>
                <a:ea typeface="+mn-lt"/>
                <a:cs typeface="+mn-lt"/>
              </a:rPr>
              <a:t>Label (20 bits)</a:t>
            </a:r>
            <a:r>
              <a:rPr lang="en-US" sz="1300">
                <a:solidFill>
                  <a:srgbClr val="0D1B2A"/>
                </a:solidFill>
                <a:ea typeface="+mn-lt"/>
                <a:cs typeface="+mn-lt"/>
              </a:rPr>
              <a:t> : </a:t>
            </a:r>
            <a:r>
              <a:rPr lang="en-US" sz="1300" b="1" err="1">
                <a:solidFill>
                  <a:srgbClr val="0D1B2A"/>
                </a:solidFill>
                <a:ea typeface="+mn-lt"/>
                <a:cs typeface="+mn-lt"/>
              </a:rPr>
              <a:t>Identifie</a:t>
            </a:r>
            <a:r>
              <a:rPr lang="en-US" sz="1300" b="1">
                <a:solidFill>
                  <a:srgbClr val="0D1B2A"/>
                </a:solidFill>
                <a:ea typeface="+mn-lt"/>
                <a:cs typeface="+mn-lt"/>
              </a:rPr>
              <a:t> le chemin MPLS </a:t>
            </a:r>
            <a:r>
              <a:rPr lang="en-US" sz="1300" b="1" err="1">
                <a:solidFill>
                  <a:srgbClr val="0D1B2A"/>
                </a:solidFill>
                <a:ea typeface="+mn-lt"/>
                <a:cs typeface="+mn-lt"/>
              </a:rPr>
              <a:t>utilisé</a:t>
            </a:r>
            <a:r>
              <a:rPr lang="en-US" sz="1300" b="1">
                <a:solidFill>
                  <a:srgbClr val="0D1B2A"/>
                </a:solidFill>
                <a:ea typeface="+mn-lt"/>
                <a:cs typeface="+mn-lt"/>
              </a:rPr>
              <a:t> pour </a:t>
            </a:r>
            <a:r>
              <a:rPr lang="en-US" sz="1300" b="1" err="1">
                <a:solidFill>
                  <a:srgbClr val="0D1B2A"/>
                </a:solidFill>
                <a:ea typeface="+mn-lt"/>
                <a:cs typeface="+mn-lt"/>
              </a:rPr>
              <a:t>transférer</a:t>
            </a:r>
            <a:r>
              <a:rPr lang="en-US" sz="1300" b="1">
                <a:solidFill>
                  <a:srgbClr val="0D1B2A"/>
                </a:solidFill>
                <a:ea typeface="+mn-lt"/>
                <a:cs typeface="+mn-lt"/>
              </a:rPr>
              <a:t> le </a:t>
            </a:r>
            <a:r>
              <a:rPr lang="en-US" sz="1300" b="1" err="1">
                <a:solidFill>
                  <a:srgbClr val="0D1B2A"/>
                </a:solidFill>
                <a:ea typeface="+mn-lt"/>
                <a:cs typeface="+mn-lt"/>
              </a:rPr>
              <a:t>paquet</a:t>
            </a:r>
            <a:r>
              <a:rPr lang="en-US" sz="1300" b="1">
                <a:solidFill>
                  <a:srgbClr val="0D1B2A"/>
                </a:solidFill>
                <a:ea typeface="+mn-lt"/>
                <a:cs typeface="+mn-lt"/>
              </a:rPr>
              <a:t>.</a:t>
            </a:r>
            <a:endParaRPr lang="en-US" sz="1300" b="1">
              <a:ea typeface="+mn-lt"/>
              <a:cs typeface="+mn-lt"/>
            </a:endParaRPr>
          </a:p>
        </p:txBody>
      </p:sp>
      <p:sp>
        <p:nvSpPr>
          <p:cNvPr id="17" name="Shape 15"/>
          <p:cNvSpPr/>
          <p:nvPr/>
        </p:nvSpPr>
        <p:spPr>
          <a:xfrm>
            <a:off x="1571932" y="3571275"/>
            <a:ext cx="4819385" cy="890728"/>
          </a:xfrm>
          <a:prstGeom prst="rect">
            <a:avLst/>
          </a:prstGeom>
          <a:solidFill>
            <a:srgbClr val="E3F2FD"/>
          </a:solidFill>
          <a:ln w="19050">
            <a:solidFill>
              <a:srgbClr val="00BCD4"/>
            </a:solidFill>
            <a:prstDash val="solid"/>
          </a:ln>
          <a:effectLst>
            <a:outerShdw blurRad="50800" dist="25400" dir="8100000" algn="bl" rotWithShape="0">
              <a:srgbClr val="000000">
                <a:alpha val="8000"/>
              </a:srgbClr>
            </a:outerShdw>
          </a:effectLst>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19" name="Text 17"/>
          <p:cNvSpPr/>
          <p:nvPr/>
        </p:nvSpPr>
        <p:spPr>
          <a:xfrm>
            <a:off x="1571555" y="3641153"/>
            <a:ext cx="4819604" cy="745432"/>
          </a:xfrm>
          <a:prstGeom prst="rect">
            <a:avLst/>
          </a:prstGeom>
          <a:noFill/>
          <a:ln/>
        </p:spPr>
        <p:txBody>
          <a:bodyPr wrap="square" lIns="121920" tIns="60960" rIns="121920" bIns="6096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227965" indent="-227965">
              <a:buFont typeface="Arial"/>
              <a:buChar char="•"/>
            </a:pPr>
            <a:r>
              <a:rPr lang="en-US" sz="1600" b="1">
                <a:solidFill>
                  <a:srgbClr val="0D1B2A"/>
                </a:solidFill>
                <a:ea typeface="+mn-lt"/>
                <a:cs typeface="+mn-lt"/>
              </a:rPr>
              <a:t>Traffic Class (3 bits)</a:t>
            </a:r>
            <a:r>
              <a:rPr lang="en-US" sz="1300">
                <a:solidFill>
                  <a:srgbClr val="0D1B2A"/>
                </a:solidFill>
                <a:ea typeface="+mn-lt"/>
                <a:cs typeface="+mn-lt"/>
              </a:rPr>
              <a:t> : </a:t>
            </a:r>
            <a:r>
              <a:rPr lang="en-US" sz="1300" b="1" err="1">
                <a:solidFill>
                  <a:srgbClr val="0D1B2A"/>
                </a:solidFill>
                <a:ea typeface="+mn-lt"/>
                <a:cs typeface="+mn-lt"/>
              </a:rPr>
              <a:t>Utilisé</a:t>
            </a:r>
            <a:r>
              <a:rPr lang="en-US" sz="1300" b="1">
                <a:solidFill>
                  <a:srgbClr val="0D1B2A"/>
                </a:solidFill>
                <a:ea typeface="+mn-lt"/>
                <a:cs typeface="+mn-lt"/>
              </a:rPr>
              <a:t> pour la QoS et la </a:t>
            </a:r>
            <a:r>
              <a:rPr lang="en-US" sz="1300" b="1" err="1">
                <a:solidFill>
                  <a:srgbClr val="0D1B2A"/>
                </a:solidFill>
                <a:ea typeface="+mn-lt"/>
                <a:cs typeface="+mn-lt"/>
              </a:rPr>
              <a:t>priorité</a:t>
            </a:r>
            <a:r>
              <a:rPr lang="en-US" sz="1300" b="1">
                <a:solidFill>
                  <a:srgbClr val="0D1B2A"/>
                </a:solidFill>
                <a:ea typeface="+mn-lt"/>
                <a:cs typeface="+mn-lt"/>
              </a:rPr>
              <a:t> du </a:t>
            </a:r>
            <a:r>
              <a:rPr lang="en-US" sz="1300" b="1" err="1">
                <a:solidFill>
                  <a:srgbClr val="0D1B2A"/>
                </a:solidFill>
                <a:ea typeface="+mn-lt"/>
                <a:cs typeface="+mn-lt"/>
              </a:rPr>
              <a:t>trafic</a:t>
            </a:r>
            <a:r>
              <a:rPr lang="en-US" sz="1300" b="1">
                <a:solidFill>
                  <a:srgbClr val="0D1B2A"/>
                </a:solidFill>
                <a:ea typeface="+mn-lt"/>
                <a:cs typeface="+mn-lt"/>
              </a:rPr>
              <a:t>.</a:t>
            </a:r>
            <a:endParaRPr lang="en-US" sz="3200" b="1" err="1">
              <a:ea typeface="Calibri" panose="020F0502020204030204"/>
              <a:cs typeface="Calibri" panose="020F0502020204030204"/>
            </a:endParaRPr>
          </a:p>
        </p:txBody>
      </p:sp>
      <p:sp>
        <p:nvSpPr>
          <p:cNvPr id="20" name="Shape 18"/>
          <p:cNvSpPr/>
          <p:nvPr/>
        </p:nvSpPr>
        <p:spPr>
          <a:xfrm>
            <a:off x="3394262" y="4567730"/>
            <a:ext cx="5085607" cy="931049"/>
          </a:xfrm>
          <a:prstGeom prst="rect">
            <a:avLst/>
          </a:prstGeom>
          <a:solidFill>
            <a:srgbClr val="E3F2FD"/>
          </a:solidFill>
          <a:ln w="19050">
            <a:solidFill>
              <a:srgbClr val="E65100"/>
            </a:solidFill>
            <a:prstDash val="solid"/>
          </a:ln>
          <a:effectLst>
            <a:outerShdw blurRad="50800" dist="25400" dir="8100000" algn="bl" rotWithShape="0">
              <a:srgbClr val="000000">
                <a:alpha val="8000"/>
              </a:srgbClr>
            </a:outerShdw>
          </a:effectLst>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21" name="Shape 19"/>
          <p:cNvSpPr/>
          <p:nvPr/>
        </p:nvSpPr>
        <p:spPr>
          <a:xfrm>
            <a:off x="7125872" y="2133192"/>
            <a:ext cx="5113" cy="2353505"/>
          </a:xfrm>
          <a:prstGeom prst="line">
            <a:avLst/>
          </a:prstGeom>
          <a:noFill/>
          <a:ln w="19050">
            <a:solidFill>
              <a:srgbClr val="E65100"/>
            </a:solidFill>
            <a:prstDash val="dash"/>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22" name="Text 20"/>
          <p:cNvSpPr/>
          <p:nvPr/>
        </p:nvSpPr>
        <p:spPr>
          <a:xfrm>
            <a:off x="3660563" y="4625147"/>
            <a:ext cx="4545077" cy="811915"/>
          </a:xfrm>
          <a:prstGeom prst="rect">
            <a:avLst/>
          </a:prstGeom>
          <a:noFill/>
          <a:ln/>
        </p:spPr>
        <p:txBody>
          <a:bodyPr wrap="square" lIns="121920" tIns="60960" rIns="121920" bIns="6096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304165" indent="-304165">
              <a:buFont typeface="Arial"/>
              <a:buChar char="•"/>
            </a:pPr>
            <a:r>
              <a:rPr lang="en-US" sz="1600" b="1">
                <a:solidFill>
                  <a:srgbClr val="0D1B2A"/>
                </a:solidFill>
                <a:ea typeface="+mn-lt"/>
                <a:cs typeface="+mn-lt"/>
              </a:rPr>
              <a:t>S / Bottom of Stack (1 bit)</a:t>
            </a:r>
            <a:r>
              <a:rPr lang="en-US" sz="1300">
                <a:solidFill>
                  <a:srgbClr val="0D1B2A"/>
                </a:solidFill>
                <a:ea typeface="+mn-lt"/>
                <a:cs typeface="+mn-lt"/>
              </a:rPr>
              <a:t> : </a:t>
            </a:r>
            <a:r>
              <a:rPr lang="en-US" sz="1300" b="1">
                <a:solidFill>
                  <a:srgbClr val="0D1B2A"/>
                </a:solidFill>
                <a:ea typeface="+mn-lt"/>
                <a:cs typeface="+mn-lt"/>
              </a:rPr>
              <a:t> </a:t>
            </a:r>
            <a:r>
              <a:rPr lang="en-US" sz="1300" b="1" err="1">
                <a:solidFill>
                  <a:srgbClr val="0D1B2A"/>
                </a:solidFill>
                <a:ea typeface="+mn-lt"/>
                <a:cs typeface="+mn-lt"/>
              </a:rPr>
              <a:t>Indique</a:t>
            </a:r>
            <a:r>
              <a:rPr lang="en-US" sz="1300" b="1">
                <a:solidFill>
                  <a:srgbClr val="0D1B2A"/>
                </a:solidFill>
                <a:ea typeface="+mn-lt"/>
                <a:cs typeface="+mn-lt"/>
              </a:rPr>
              <a:t> </a:t>
            </a:r>
            <a:r>
              <a:rPr lang="en-US" sz="1300" b="1" err="1">
                <a:solidFill>
                  <a:srgbClr val="0D1B2A"/>
                </a:solidFill>
                <a:ea typeface="+mn-lt"/>
                <a:cs typeface="+mn-lt"/>
              </a:rPr>
              <a:t>si</a:t>
            </a:r>
            <a:r>
              <a:rPr lang="en-US" sz="1300" b="1">
                <a:solidFill>
                  <a:srgbClr val="0D1B2A"/>
                </a:solidFill>
                <a:ea typeface="+mn-lt"/>
                <a:cs typeface="+mn-lt"/>
              </a:rPr>
              <a:t> le label est le dernier label de la pile.</a:t>
            </a:r>
          </a:p>
          <a:p>
            <a:pPr marL="304165" indent="-304165">
              <a:buFont typeface="Arial"/>
              <a:buChar char="•"/>
            </a:pPr>
            <a:r>
              <a:rPr lang="en-US" sz="1300" b="1">
                <a:solidFill>
                  <a:srgbClr val="0D1B2A"/>
                </a:solidFill>
                <a:latin typeface="Consolas"/>
                <a:ea typeface="Calibri" panose="020F0502020204030204"/>
                <a:cs typeface="Calibri" panose="020F0502020204030204"/>
              </a:rPr>
              <a:t>S = 1 → dernier label
S = 0 → il </a:t>
            </a:r>
            <a:r>
              <a:rPr lang="en-US" sz="1300" b="1" err="1">
                <a:solidFill>
                  <a:srgbClr val="0D1B2A"/>
                </a:solidFill>
                <a:latin typeface="Consolas"/>
                <a:ea typeface="Calibri" panose="020F0502020204030204"/>
                <a:cs typeface="Calibri" panose="020F0502020204030204"/>
              </a:rPr>
              <a:t>existe</a:t>
            </a:r>
            <a:r>
              <a:rPr lang="en-US" sz="1300" b="1">
                <a:solidFill>
                  <a:srgbClr val="0D1B2A"/>
                </a:solidFill>
                <a:latin typeface="Consolas"/>
                <a:ea typeface="Calibri" panose="020F0502020204030204"/>
                <a:cs typeface="Calibri" panose="020F0502020204030204"/>
              </a:rPr>
              <a:t> encore un label </a:t>
            </a:r>
            <a:r>
              <a:rPr lang="en-US" sz="1300" b="1" err="1">
                <a:solidFill>
                  <a:srgbClr val="0D1B2A"/>
                </a:solidFill>
                <a:latin typeface="Consolas"/>
                <a:ea typeface="Calibri" panose="020F0502020204030204"/>
                <a:cs typeface="Calibri" panose="020F0502020204030204"/>
              </a:rPr>
              <a:t>en</a:t>
            </a:r>
            <a:r>
              <a:rPr lang="en-US" sz="1300" b="1">
                <a:solidFill>
                  <a:srgbClr val="0D1B2A"/>
                </a:solidFill>
                <a:latin typeface="Consolas"/>
                <a:ea typeface="Calibri" panose="020F0502020204030204"/>
                <a:cs typeface="Calibri" panose="020F0502020204030204"/>
              </a:rPr>
              <a:t> dessous</a:t>
            </a:r>
            <a:endParaRPr lang="en-US" sz="1300" b="1">
              <a:solidFill>
                <a:srgbClr val="0D1B2A"/>
              </a:solidFill>
              <a:ea typeface="Calibri" panose="020F0502020204030204"/>
              <a:cs typeface="Calibri" panose="020F0502020204030204"/>
            </a:endParaRPr>
          </a:p>
        </p:txBody>
      </p:sp>
      <p:sp>
        <p:nvSpPr>
          <p:cNvPr id="23" name="Shape 21"/>
          <p:cNvSpPr/>
          <p:nvPr/>
        </p:nvSpPr>
        <p:spPr>
          <a:xfrm>
            <a:off x="4861273" y="5581471"/>
            <a:ext cx="6360704" cy="974333"/>
          </a:xfrm>
          <a:prstGeom prst="rect">
            <a:avLst/>
          </a:prstGeom>
          <a:solidFill>
            <a:srgbClr val="E3F2FD"/>
          </a:solidFill>
          <a:ln w="19050">
            <a:solidFill>
              <a:srgbClr val="C62828"/>
            </a:solidFill>
            <a:prstDash val="solid"/>
          </a:ln>
          <a:effectLst>
            <a:outerShdw blurRad="50800" dist="25400" dir="8100000" algn="bl" rotWithShape="0">
              <a:srgbClr val="000000">
                <a:alpha val="8000"/>
              </a:srgbClr>
            </a:outerShdw>
          </a:effectLst>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24" name="Shape 22"/>
          <p:cNvSpPr/>
          <p:nvPr/>
        </p:nvSpPr>
        <p:spPr>
          <a:xfrm flipH="1">
            <a:off x="8825389" y="2122963"/>
            <a:ext cx="30684" cy="3401896"/>
          </a:xfrm>
          <a:prstGeom prst="line">
            <a:avLst/>
          </a:prstGeom>
          <a:noFill/>
          <a:ln w="19050">
            <a:solidFill>
              <a:srgbClr val="C62828"/>
            </a:solidFill>
            <a:prstDash val="dash"/>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25" name="Text 23"/>
          <p:cNvSpPr/>
          <p:nvPr/>
        </p:nvSpPr>
        <p:spPr>
          <a:xfrm>
            <a:off x="5025294" y="5689232"/>
            <a:ext cx="6032665" cy="837485"/>
          </a:xfrm>
          <a:prstGeom prst="rect">
            <a:avLst/>
          </a:prstGeom>
          <a:noFill/>
          <a:ln/>
        </p:spPr>
        <p:txBody>
          <a:bodyPr wrap="square" lIns="121920" tIns="60960" rIns="121920" bIns="6096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380365" indent="-380365">
              <a:buFont typeface="Arial"/>
              <a:buChar char="•"/>
            </a:pPr>
            <a:r>
              <a:rPr lang="en-US" sz="1600" b="1">
                <a:solidFill>
                  <a:srgbClr val="0D1B2A"/>
                </a:solidFill>
                <a:ea typeface="+mn-lt"/>
                <a:cs typeface="+mn-lt"/>
              </a:rPr>
              <a:t>TTL / Time to Live (8 bits)</a:t>
            </a:r>
            <a:r>
              <a:rPr lang="en-US" sz="1600">
                <a:solidFill>
                  <a:srgbClr val="0D1B2A"/>
                </a:solidFill>
                <a:ea typeface="+mn-lt"/>
                <a:cs typeface="+mn-lt"/>
              </a:rPr>
              <a:t> : </a:t>
            </a:r>
            <a:r>
              <a:rPr lang="en-US" sz="1400" b="1" err="1">
                <a:solidFill>
                  <a:srgbClr val="0D1B2A"/>
                </a:solidFill>
                <a:ea typeface="+mn-lt"/>
                <a:cs typeface="+mn-lt"/>
              </a:rPr>
              <a:t>Limite</a:t>
            </a:r>
            <a:r>
              <a:rPr lang="en-US" sz="1400" b="1">
                <a:solidFill>
                  <a:srgbClr val="0D1B2A"/>
                </a:solidFill>
                <a:ea typeface="+mn-lt"/>
                <a:cs typeface="+mn-lt"/>
              </a:rPr>
              <a:t> la durée de vie du </a:t>
            </a:r>
            <a:r>
              <a:rPr lang="en-US" sz="1400" b="1" err="1">
                <a:solidFill>
                  <a:srgbClr val="0D1B2A"/>
                </a:solidFill>
                <a:ea typeface="+mn-lt"/>
                <a:cs typeface="+mn-lt"/>
              </a:rPr>
              <a:t>paquet</a:t>
            </a:r>
            <a:r>
              <a:rPr lang="en-US" sz="1400" b="1">
                <a:solidFill>
                  <a:srgbClr val="0D1B2A"/>
                </a:solidFill>
                <a:ea typeface="+mn-lt"/>
                <a:cs typeface="+mn-lt"/>
              </a:rPr>
              <a:t> dans le réseau MPLS et </a:t>
            </a:r>
            <a:r>
              <a:rPr lang="en-US" sz="1400" b="1" err="1">
                <a:solidFill>
                  <a:srgbClr val="0D1B2A"/>
                </a:solidFill>
                <a:ea typeface="+mn-lt"/>
                <a:cs typeface="+mn-lt"/>
              </a:rPr>
              <a:t>évite</a:t>
            </a:r>
            <a:r>
              <a:rPr lang="en-US" sz="1400" b="1">
                <a:solidFill>
                  <a:srgbClr val="0D1B2A"/>
                </a:solidFill>
                <a:ea typeface="+mn-lt"/>
                <a:cs typeface="+mn-lt"/>
              </a:rPr>
              <a:t> les </a:t>
            </a:r>
            <a:r>
              <a:rPr lang="en-US" sz="1400" b="1" err="1">
                <a:solidFill>
                  <a:srgbClr val="0D1B2A"/>
                </a:solidFill>
                <a:ea typeface="+mn-lt"/>
                <a:cs typeface="+mn-lt"/>
              </a:rPr>
              <a:t>boucles</a:t>
            </a:r>
            <a:r>
              <a:rPr lang="en-US" sz="1400" b="1">
                <a:solidFill>
                  <a:srgbClr val="0D1B2A"/>
                </a:solidFill>
                <a:ea typeface="+mn-lt"/>
                <a:cs typeface="+mn-lt"/>
              </a:rPr>
              <a:t> </a:t>
            </a:r>
            <a:r>
              <a:rPr lang="en-US" sz="1400" b="1" err="1">
                <a:solidFill>
                  <a:srgbClr val="0D1B2A"/>
                </a:solidFill>
                <a:ea typeface="+mn-lt"/>
                <a:cs typeface="+mn-lt"/>
              </a:rPr>
              <a:t>infinies</a:t>
            </a:r>
            <a:r>
              <a:rPr lang="en-US" sz="1400" b="1">
                <a:solidFill>
                  <a:srgbClr val="0D1B2A"/>
                </a:solidFill>
                <a:ea typeface="+mn-lt"/>
                <a:cs typeface="+mn-lt"/>
              </a:rPr>
              <a:t>.</a:t>
            </a:r>
            <a:endParaRPr lang="en-US" sz="1400" b="1">
              <a:ea typeface="+mn-lt"/>
              <a:cs typeface="+mn-lt"/>
            </a:endParaRPr>
          </a:p>
          <a:p>
            <a:pPr marL="0" indent="0">
              <a:buNone/>
            </a:pPr>
            <a:endParaRPr lang="en-US" sz="1333">
              <a:solidFill>
                <a:srgbClr val="0D1B2A"/>
              </a:solidFill>
              <a:ea typeface="Calibri"/>
              <a:cs typeface="Calibri"/>
            </a:endParaRPr>
          </a:p>
        </p:txBody>
      </p:sp>
      <p:sp>
        <p:nvSpPr>
          <p:cNvPr id="26" name="Text 24"/>
          <p:cNvSpPr/>
          <p:nvPr/>
        </p:nvSpPr>
        <p:spPr>
          <a:xfrm>
            <a:off x="8979899" y="411271"/>
            <a:ext cx="3214959" cy="784201"/>
          </a:xfrm>
          <a:prstGeom prst="rect">
            <a:avLst/>
          </a:prstGeom>
          <a:noFill/>
          <a:ln/>
        </p:spPr>
        <p:txBody>
          <a:bodyPr wrap="square" lIns="121920" tIns="60960" rIns="121920" bIns="6096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en-US" sz="2133" b="1">
                <a:solidFill>
                  <a:srgbClr val="0D1B2A"/>
                </a:solidFill>
                <a:ea typeface="+mn-lt"/>
                <a:cs typeface="+mn-lt"/>
              </a:rPr>
              <a:t>MPLS dans le </a:t>
            </a:r>
            <a:r>
              <a:rPr lang="en-US" sz="2133" b="1" err="1">
                <a:solidFill>
                  <a:srgbClr val="0D1B2A"/>
                </a:solidFill>
                <a:ea typeface="+mn-lt"/>
                <a:cs typeface="+mn-lt"/>
              </a:rPr>
              <a:t>modèle</a:t>
            </a:r>
            <a:r>
              <a:rPr lang="en-US" sz="2133" b="1">
                <a:solidFill>
                  <a:srgbClr val="0D1B2A"/>
                </a:solidFill>
                <a:ea typeface="+mn-lt"/>
                <a:cs typeface="+mn-lt"/>
              </a:rPr>
              <a:t> OSI (Couche 2.5) </a:t>
            </a:r>
            <a:endParaRPr lang="en-US" sz="2133" b="1">
              <a:ea typeface="+mn-lt"/>
              <a:cs typeface="+mn-lt"/>
            </a:endParaRPr>
          </a:p>
        </p:txBody>
      </p:sp>
      <p:sp>
        <p:nvSpPr>
          <p:cNvPr id="27" name="Shape 25"/>
          <p:cNvSpPr/>
          <p:nvPr/>
        </p:nvSpPr>
        <p:spPr>
          <a:xfrm>
            <a:off x="9609111" y="3421288"/>
            <a:ext cx="2316480" cy="487680"/>
          </a:xfrm>
          <a:prstGeom prst="rect">
            <a:avLst/>
          </a:prstGeom>
          <a:solidFill>
            <a:schemeClr val="accent2"/>
          </a:solidFill>
          <a:ln w="12700">
            <a:solidFill>
              <a:srgbClr val="ED7D31"/>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28" name="Text 26"/>
          <p:cNvSpPr/>
          <p:nvPr/>
        </p:nvSpPr>
        <p:spPr>
          <a:xfrm>
            <a:off x="9609111" y="3421288"/>
            <a:ext cx="2316480" cy="4876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en-US" sz="1600">
                <a:solidFill>
                  <a:srgbClr val="FFFFFF"/>
                </a:solidFill>
              </a:rPr>
              <a:t>Layer 3</a:t>
            </a:r>
            <a:endParaRPr lang="en-US" sz="1600">
              <a:ea typeface="Calibri"/>
              <a:cs typeface="Calibri"/>
            </a:endParaRPr>
          </a:p>
        </p:txBody>
      </p:sp>
      <p:sp>
        <p:nvSpPr>
          <p:cNvPr id="29" name="Shape 27"/>
          <p:cNvSpPr/>
          <p:nvPr/>
        </p:nvSpPr>
        <p:spPr>
          <a:xfrm>
            <a:off x="9240896" y="3959700"/>
            <a:ext cx="2316480" cy="487680"/>
          </a:xfrm>
          <a:prstGeom prst="rect">
            <a:avLst/>
          </a:prstGeom>
          <a:solidFill>
            <a:srgbClr val="00BCD4"/>
          </a:solidFill>
          <a:ln w="12700">
            <a:solidFill>
              <a:srgbClr val="00BCD4"/>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30" name="Text 28"/>
          <p:cNvSpPr/>
          <p:nvPr/>
        </p:nvSpPr>
        <p:spPr>
          <a:xfrm>
            <a:off x="9240896" y="3959700"/>
            <a:ext cx="2316480" cy="4876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en-US" sz="1600" b="1"/>
              <a:t>MPLS Label</a:t>
            </a:r>
            <a:endParaRPr lang="en-US" sz="1600" b="1">
              <a:ea typeface="Calibri"/>
              <a:cs typeface="Calibri"/>
            </a:endParaRPr>
          </a:p>
          <a:p>
            <a:pPr algn="ctr"/>
            <a:r>
              <a:rPr lang="en-US" sz="1600" b="1">
                <a:ea typeface="Calibri"/>
                <a:cs typeface="Calibri"/>
              </a:rPr>
              <a:t>Layer 2.5</a:t>
            </a:r>
          </a:p>
        </p:txBody>
      </p:sp>
      <p:sp>
        <p:nvSpPr>
          <p:cNvPr id="31" name="Shape 29"/>
          <p:cNvSpPr/>
          <p:nvPr/>
        </p:nvSpPr>
        <p:spPr>
          <a:xfrm>
            <a:off x="9609111" y="4518568"/>
            <a:ext cx="2316480" cy="487680"/>
          </a:xfrm>
          <a:prstGeom prst="rect">
            <a:avLst/>
          </a:prstGeom>
          <a:solidFill>
            <a:srgbClr val="E65100"/>
          </a:solidFill>
          <a:ln w="12700">
            <a:solidFill>
              <a:srgbClr val="E6510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32" name="Text 30"/>
          <p:cNvSpPr/>
          <p:nvPr/>
        </p:nvSpPr>
        <p:spPr>
          <a:xfrm>
            <a:off x="9609111" y="4518568"/>
            <a:ext cx="2316480" cy="4876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en-US" sz="1600">
                <a:solidFill>
                  <a:srgbClr val="FFFFFF"/>
                </a:solidFill>
              </a:rPr>
              <a:t>Layer 2</a:t>
            </a:r>
            <a:endParaRPr lang="en-US" sz="1600">
              <a:solidFill>
                <a:srgbClr val="000000"/>
              </a:solidFill>
              <a:ea typeface="Calibri"/>
              <a:cs typeface="Calibri"/>
            </a:endParaRPr>
          </a:p>
        </p:txBody>
      </p:sp>
      <p:sp>
        <p:nvSpPr>
          <p:cNvPr id="33" name="Shape 31"/>
          <p:cNvSpPr/>
          <p:nvPr/>
        </p:nvSpPr>
        <p:spPr>
          <a:xfrm>
            <a:off x="9598883" y="5046752"/>
            <a:ext cx="2316480" cy="426720"/>
          </a:xfrm>
          <a:prstGeom prst="rect">
            <a:avLst/>
          </a:prstGeom>
          <a:solidFill>
            <a:schemeClr val="accent1"/>
          </a:solidFill>
          <a:ln w="12700">
            <a:solidFill>
              <a:srgbClr val="2E7D32"/>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34" name="Text 32"/>
          <p:cNvSpPr/>
          <p:nvPr/>
        </p:nvSpPr>
        <p:spPr>
          <a:xfrm>
            <a:off x="9598883" y="5046752"/>
            <a:ext cx="2316480" cy="42672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en-US" sz="1600">
                <a:solidFill>
                  <a:srgbClr val="FFFFFF"/>
                </a:solidFill>
              </a:rPr>
              <a:t>Layer 1</a:t>
            </a:r>
            <a:endParaRPr lang="en-US" sz="1600">
              <a:solidFill>
                <a:srgbClr val="000000"/>
              </a:solidFill>
              <a:ea typeface="Calibri"/>
              <a:cs typeface="Calibri"/>
            </a:endParaRPr>
          </a:p>
        </p:txBody>
      </p:sp>
      <p:sp>
        <p:nvSpPr>
          <p:cNvPr id="35" name="Text 33"/>
          <p:cNvSpPr/>
          <p:nvPr/>
        </p:nvSpPr>
        <p:spPr>
          <a:xfrm>
            <a:off x="10149296" y="3393728"/>
            <a:ext cx="609600" cy="1645920"/>
          </a:xfrm>
          <a:prstGeom prst="rect">
            <a:avLst/>
          </a:prstGeom>
          <a:noFill/>
          <a:ln/>
        </p:spPr>
        <p:txBody>
          <a:bodyPr wrap="square" lIns="121920" tIns="60960" rIns="121920" bIns="6096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endParaRPr lang="en-US" sz="1067">
              <a:solidFill>
                <a:srgbClr val="E65100"/>
              </a:solidFill>
              <a:ea typeface="Calibri"/>
              <a:cs typeface="Calibri"/>
            </a:endParaRPr>
          </a:p>
        </p:txBody>
      </p:sp>
      <p:sp>
        <p:nvSpPr>
          <p:cNvPr id="36" name="Shape 25">
            <a:extLst>
              <a:ext uri="{FF2B5EF4-FFF2-40B4-BE49-F238E27FC236}">
                <a16:creationId xmlns:a16="http://schemas.microsoft.com/office/drawing/2014/main" id="{2FFC4CD4-3C3E-DE87-B0E2-8F09B5411117}"/>
              </a:ext>
            </a:extLst>
          </p:cNvPr>
          <p:cNvSpPr/>
          <p:nvPr/>
        </p:nvSpPr>
        <p:spPr>
          <a:xfrm>
            <a:off x="9603996" y="1769436"/>
            <a:ext cx="2316480" cy="487680"/>
          </a:xfrm>
          <a:prstGeom prst="rect">
            <a:avLst/>
          </a:prstGeom>
          <a:solidFill>
            <a:srgbClr val="1565C0"/>
          </a:solidFill>
          <a:ln w="12700">
            <a:solidFill>
              <a:srgbClr val="1565C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37" name="Text 26">
            <a:extLst>
              <a:ext uri="{FF2B5EF4-FFF2-40B4-BE49-F238E27FC236}">
                <a16:creationId xmlns:a16="http://schemas.microsoft.com/office/drawing/2014/main" id="{3682D26F-1CDA-375C-2260-27CAB50EA40B}"/>
              </a:ext>
            </a:extLst>
          </p:cNvPr>
          <p:cNvSpPr/>
          <p:nvPr/>
        </p:nvSpPr>
        <p:spPr>
          <a:xfrm>
            <a:off x="9603996" y="1769436"/>
            <a:ext cx="2316480" cy="4876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en-US" sz="1600">
                <a:solidFill>
                  <a:srgbClr val="FFFFFF"/>
                </a:solidFill>
              </a:rPr>
              <a:t>Layer 6</a:t>
            </a:r>
            <a:endParaRPr lang="en-US" sz="1600">
              <a:ea typeface="Calibri"/>
              <a:cs typeface="Calibri"/>
            </a:endParaRPr>
          </a:p>
        </p:txBody>
      </p:sp>
      <p:sp>
        <p:nvSpPr>
          <p:cNvPr id="38" name="Shape 27">
            <a:extLst>
              <a:ext uri="{FF2B5EF4-FFF2-40B4-BE49-F238E27FC236}">
                <a16:creationId xmlns:a16="http://schemas.microsoft.com/office/drawing/2014/main" id="{F2D55F1E-A0F8-253C-D1E3-E220EE0894EC}"/>
              </a:ext>
            </a:extLst>
          </p:cNvPr>
          <p:cNvSpPr/>
          <p:nvPr/>
        </p:nvSpPr>
        <p:spPr>
          <a:xfrm>
            <a:off x="9603996" y="2318076"/>
            <a:ext cx="2316480" cy="487680"/>
          </a:xfrm>
          <a:prstGeom prst="rect">
            <a:avLst/>
          </a:prstGeom>
          <a:solidFill>
            <a:srgbClr val="0070C0"/>
          </a:solidFill>
          <a:ln w="12700">
            <a:solidFill>
              <a:schemeClr val="accent1"/>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39" name="Text 28">
            <a:extLst>
              <a:ext uri="{FF2B5EF4-FFF2-40B4-BE49-F238E27FC236}">
                <a16:creationId xmlns:a16="http://schemas.microsoft.com/office/drawing/2014/main" id="{A2F85377-3291-BF7D-C190-85C52CF3CA2A}"/>
              </a:ext>
            </a:extLst>
          </p:cNvPr>
          <p:cNvSpPr/>
          <p:nvPr/>
        </p:nvSpPr>
        <p:spPr>
          <a:xfrm>
            <a:off x="9603996" y="2318076"/>
            <a:ext cx="2316480" cy="4876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en-US" sz="1600">
                <a:solidFill>
                  <a:srgbClr val="FFFFFF"/>
                </a:solidFill>
              </a:rPr>
              <a:t>Layer 5</a:t>
            </a:r>
            <a:endParaRPr lang="en-US" sz="3200"/>
          </a:p>
        </p:txBody>
      </p:sp>
      <p:sp>
        <p:nvSpPr>
          <p:cNvPr id="40" name="Shape 29">
            <a:extLst>
              <a:ext uri="{FF2B5EF4-FFF2-40B4-BE49-F238E27FC236}">
                <a16:creationId xmlns:a16="http://schemas.microsoft.com/office/drawing/2014/main" id="{B9AB28CC-C04E-B1B4-AAB5-5054A2E6302F}"/>
              </a:ext>
            </a:extLst>
          </p:cNvPr>
          <p:cNvSpPr/>
          <p:nvPr/>
        </p:nvSpPr>
        <p:spPr>
          <a:xfrm>
            <a:off x="9603996" y="2866716"/>
            <a:ext cx="2316480" cy="487680"/>
          </a:xfrm>
          <a:prstGeom prst="rect">
            <a:avLst/>
          </a:prstGeom>
          <a:solidFill>
            <a:srgbClr val="0070C0"/>
          </a:solidFill>
          <a:ln w="12700">
            <a:solidFill>
              <a:srgbClr val="0070C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41" name="Text 30">
            <a:extLst>
              <a:ext uri="{FF2B5EF4-FFF2-40B4-BE49-F238E27FC236}">
                <a16:creationId xmlns:a16="http://schemas.microsoft.com/office/drawing/2014/main" id="{5805B9F1-E114-2D05-4C71-FAC431DA6DEB}"/>
              </a:ext>
            </a:extLst>
          </p:cNvPr>
          <p:cNvSpPr/>
          <p:nvPr/>
        </p:nvSpPr>
        <p:spPr>
          <a:xfrm>
            <a:off x="9603996" y="2866716"/>
            <a:ext cx="2316480" cy="4876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en-US" sz="1600">
                <a:solidFill>
                  <a:srgbClr val="FFFFFF"/>
                </a:solidFill>
              </a:rPr>
              <a:t>Layer 4</a:t>
            </a:r>
            <a:endParaRPr lang="en-US" sz="1600">
              <a:solidFill>
                <a:srgbClr val="000000"/>
              </a:solidFill>
              <a:ea typeface="Calibri"/>
              <a:cs typeface="Calibri"/>
            </a:endParaRPr>
          </a:p>
        </p:txBody>
      </p:sp>
      <p:sp>
        <p:nvSpPr>
          <p:cNvPr id="42" name="Shape 25">
            <a:extLst>
              <a:ext uri="{FF2B5EF4-FFF2-40B4-BE49-F238E27FC236}">
                <a16:creationId xmlns:a16="http://schemas.microsoft.com/office/drawing/2014/main" id="{E56DE3E9-69E2-F48D-0123-55EA6C1EDE8A}"/>
              </a:ext>
            </a:extLst>
          </p:cNvPr>
          <p:cNvSpPr/>
          <p:nvPr/>
        </p:nvSpPr>
        <p:spPr>
          <a:xfrm>
            <a:off x="9619339" y="1201772"/>
            <a:ext cx="2316480" cy="487680"/>
          </a:xfrm>
          <a:prstGeom prst="rect">
            <a:avLst/>
          </a:prstGeom>
          <a:solidFill>
            <a:srgbClr val="1565C0"/>
          </a:solidFill>
          <a:ln w="12700">
            <a:solidFill>
              <a:srgbClr val="1565C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43" name="Text 26">
            <a:extLst>
              <a:ext uri="{FF2B5EF4-FFF2-40B4-BE49-F238E27FC236}">
                <a16:creationId xmlns:a16="http://schemas.microsoft.com/office/drawing/2014/main" id="{42CA1312-A114-046C-E9DB-672B07AF4A3F}"/>
              </a:ext>
            </a:extLst>
          </p:cNvPr>
          <p:cNvSpPr/>
          <p:nvPr/>
        </p:nvSpPr>
        <p:spPr>
          <a:xfrm>
            <a:off x="9619339" y="1201772"/>
            <a:ext cx="2316480" cy="4876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en-US" sz="1600">
                <a:solidFill>
                  <a:srgbClr val="FFFFFF"/>
                </a:solidFill>
                <a:ea typeface="+mn-lt"/>
                <a:cs typeface="+mn-lt"/>
              </a:rPr>
              <a:t>Layer 7</a:t>
            </a:r>
          </a:p>
        </p:txBody>
      </p:sp>
      <p:sp>
        <p:nvSpPr>
          <p:cNvPr id="44" name="Shape 0">
            <a:extLst>
              <a:ext uri="{FF2B5EF4-FFF2-40B4-BE49-F238E27FC236}">
                <a16:creationId xmlns:a16="http://schemas.microsoft.com/office/drawing/2014/main" id="{9EA6C98A-710E-0320-B893-63F109BD6B4F}"/>
              </a:ext>
            </a:extLst>
          </p:cNvPr>
          <p:cNvSpPr/>
          <p:nvPr/>
        </p:nvSpPr>
        <p:spPr>
          <a:xfrm>
            <a:off x="0" y="0"/>
            <a:ext cx="219456" cy="6858000"/>
          </a:xfrm>
          <a:prstGeom prst="rect">
            <a:avLst/>
          </a:prstGeom>
          <a:solidFill>
            <a:srgbClr val="ED7D31"/>
          </a:solidFill>
          <a:ln w="12700">
            <a:solidFill>
              <a:srgbClr val="D97706"/>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925;p28"/>
          <p:cNvSpPr/>
          <p:nvPr/>
        </p:nvSpPr>
        <p:spPr>
          <a:xfrm flipH="1">
            <a:off x="-248776" y="7446084"/>
            <a:ext cx="39" cy="39"/>
          </a:xfrm>
          <a:custGeom>
            <a:avLst/>
            <a:gdLst/>
            <a:ahLst/>
            <a:cxnLst/>
            <a:rect l="l" t="t" r="r" b="b"/>
            <a:pathLst>
              <a:path w="1" h="1" fill="none" extrusionOk="0">
                <a:moveTo>
                  <a:pt x="1" y="1"/>
                </a:moveTo>
                <a:lnTo>
                  <a:pt x="1" y="1"/>
                </a:lnTo>
                <a:close/>
              </a:path>
            </a:pathLst>
          </a:custGeom>
          <a:solidFill>
            <a:schemeClr val="lt1"/>
          </a:solidFill>
          <a:ln w="5650" cap="rnd" cmpd="sng">
            <a:solidFill>
              <a:srgbClr val="FFFFFF"/>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grpSp>
        <p:nvGrpSpPr>
          <p:cNvPr id="3" name="Google Shape;960;p28"/>
          <p:cNvGrpSpPr/>
          <p:nvPr/>
        </p:nvGrpSpPr>
        <p:grpSpPr>
          <a:xfrm>
            <a:off x="148704" y="843970"/>
            <a:ext cx="5611133" cy="256247"/>
            <a:chOff x="948060" y="2996029"/>
            <a:chExt cx="4208350" cy="192185"/>
          </a:xfrm>
        </p:grpSpPr>
        <p:sp>
          <p:nvSpPr>
            <p:cNvPr id="4" name="Google Shape;961;p28"/>
            <p:cNvSpPr/>
            <p:nvPr/>
          </p:nvSpPr>
          <p:spPr>
            <a:xfrm rot="-2700000" flipH="1">
              <a:off x="1692865" y="3024234"/>
              <a:ext cx="136016" cy="135774"/>
            </a:xfrm>
            <a:custGeom>
              <a:avLst/>
              <a:gdLst/>
              <a:ahLst/>
              <a:cxnLst/>
              <a:rect l="l" t="t" r="r" b="b"/>
              <a:pathLst>
                <a:path w="6205" h="6194" extrusionOk="0">
                  <a:moveTo>
                    <a:pt x="6160" y="0"/>
                  </a:moveTo>
                  <a:lnTo>
                    <a:pt x="0" y="6149"/>
                  </a:lnTo>
                  <a:lnTo>
                    <a:pt x="1395" y="6194"/>
                  </a:lnTo>
                  <a:lnTo>
                    <a:pt x="6205" y="1384"/>
                  </a:lnTo>
                  <a:lnTo>
                    <a:pt x="6160" y="0"/>
                  </a:lnTo>
                  <a:close/>
                </a:path>
              </a:pathLst>
            </a:custGeom>
            <a:solidFill>
              <a:schemeClr val="l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cxnSp>
          <p:nvCxnSpPr>
            <p:cNvPr id="5" name="Google Shape;962;p28"/>
            <p:cNvCxnSpPr>
              <a:stCxn id="6" idx="6"/>
              <a:endCxn id="7" idx="2"/>
            </p:cNvCxnSpPr>
            <p:nvPr/>
          </p:nvCxnSpPr>
          <p:spPr>
            <a:xfrm rot="10800000">
              <a:off x="1005010" y="3091118"/>
              <a:ext cx="4094400" cy="0"/>
            </a:xfrm>
            <a:prstGeom prst="straightConnector1">
              <a:avLst/>
            </a:prstGeom>
            <a:noFill/>
            <a:ln w="9525" cap="flat" cmpd="sng">
              <a:solidFill>
                <a:schemeClr val="lt1"/>
              </a:solidFill>
              <a:prstDash val="solid"/>
              <a:round/>
              <a:headEnd type="none" w="med" len="med"/>
              <a:tailEnd type="none" w="med" len="med"/>
            </a:ln>
          </p:spPr>
        </p:cxnSp>
        <p:sp>
          <p:nvSpPr>
            <p:cNvPr id="6" name="Google Shape;963;p28"/>
            <p:cNvSpPr/>
            <p:nvPr/>
          </p:nvSpPr>
          <p:spPr>
            <a:xfrm flipH="1">
              <a:off x="5099410" y="3062618"/>
              <a:ext cx="57000" cy="57000"/>
            </a:xfrm>
            <a:prstGeom prst="ellipse">
              <a:avLst/>
            </a:prstGeom>
            <a:solidFill>
              <a:schemeClr val="l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7" name="Google Shape;964;p28"/>
            <p:cNvSpPr/>
            <p:nvPr/>
          </p:nvSpPr>
          <p:spPr>
            <a:xfrm flipH="1">
              <a:off x="948060" y="3062642"/>
              <a:ext cx="57000" cy="57000"/>
            </a:xfrm>
            <a:prstGeom prst="ellipse">
              <a:avLst/>
            </a:prstGeom>
            <a:solidFill>
              <a:schemeClr val="lt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grpSp>
      <p:sp>
        <p:nvSpPr>
          <p:cNvPr id="8" name="Google Shape;987;p30"/>
          <p:cNvSpPr txBox="1">
            <a:spLocks/>
          </p:cNvSpPr>
          <p:nvPr/>
        </p:nvSpPr>
        <p:spPr>
          <a:xfrm>
            <a:off x="1744651" y="392149"/>
            <a:ext cx="8016981" cy="451200"/>
          </a:xfrm>
          <a:prstGeom prst="rect">
            <a:avLst/>
          </a:prstGeom>
          <a:noFill/>
          <a:ln>
            <a:noFill/>
          </a:ln>
        </p:spPr>
        <p:txBody>
          <a:bodyPr spcFirstLastPara="1" wrap="square" lIns="121900" tIns="0" rIns="12190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r>
              <a:rPr lang="en-US" sz="3600" b="1">
                <a:solidFill>
                  <a:srgbClr val="163A5F"/>
                </a:solidFill>
                <a:latin typeface="Agency FB"/>
              </a:rPr>
              <a:t>MISE EN PLACE DE L’ARCHITECTURE MPLS L3VPN</a:t>
            </a:r>
            <a:endParaRPr lang="en-US" sz="1850">
              <a:solidFill>
                <a:srgbClr val="163A5F"/>
              </a:solidFill>
            </a:endParaRPr>
          </a:p>
          <a:p>
            <a:pPr marL="0" indent="0" algn="ctr">
              <a:buNone/>
            </a:pPr>
            <a:endParaRPr lang="en-US" sz="3600" b="1">
              <a:solidFill>
                <a:srgbClr val="163A5F"/>
              </a:solidFill>
              <a:latin typeface="Agency FB"/>
            </a:endParaRPr>
          </a:p>
        </p:txBody>
      </p:sp>
      <p:sp>
        <p:nvSpPr>
          <p:cNvPr id="13" name="ZoneTexte 12"/>
          <p:cNvSpPr txBox="1"/>
          <p:nvPr/>
        </p:nvSpPr>
        <p:spPr>
          <a:xfrm>
            <a:off x="146235" y="1098064"/>
            <a:ext cx="12038269" cy="1200329"/>
          </a:xfrm>
          <a:prstGeom prst="rect">
            <a:avLst/>
          </a:prstGeom>
          <a:noFill/>
        </p:spPr>
        <p:txBody>
          <a:bodyPr wrap="square" lIns="91440" tIns="45720" rIns="91440" bIns="4572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r>
              <a:rPr lang="fr-FR" sz="2400">
                <a:solidFill>
                  <a:srgbClr val="163A5F"/>
                </a:solidFill>
              </a:rPr>
              <a:t>Après avoir présenté le principe de MPLS, nous allons maintenant mettre en place une architecture MPLS L3VPN dans GNS3 afin d’interconnecter plusieurs sites clients à travers le réseau d’un opérateur.</a:t>
            </a:r>
            <a:endParaRPr lang="en-US" sz="2400">
              <a:solidFill>
                <a:srgbClr val="163A5F"/>
              </a:solidFill>
            </a:endParaRPr>
          </a:p>
        </p:txBody>
      </p:sp>
      <p:pic>
        <p:nvPicPr>
          <p:cNvPr id="9" name="Picture 8">
            <a:extLst>
              <a:ext uri="{FF2B5EF4-FFF2-40B4-BE49-F238E27FC236}">
                <a16:creationId xmlns:a16="http://schemas.microsoft.com/office/drawing/2014/main" id="{D4EF4D2E-31EF-B7BC-E66A-3989697E38B6}"/>
              </a:ext>
            </a:extLst>
          </p:cNvPr>
          <p:cNvPicPr>
            <a:picLocks noChangeAspect="1"/>
          </p:cNvPicPr>
          <p:nvPr/>
        </p:nvPicPr>
        <p:blipFill>
          <a:blip r:embed="rId3"/>
          <a:stretch>
            <a:fillRect/>
          </a:stretch>
        </p:blipFill>
        <p:spPr>
          <a:xfrm>
            <a:off x="4727398" y="2390088"/>
            <a:ext cx="6309360" cy="3308350"/>
          </a:xfrm>
          <a:prstGeom prst="rect">
            <a:avLst/>
          </a:prstGeom>
        </p:spPr>
      </p:pic>
      <p:pic>
        <p:nvPicPr>
          <p:cNvPr id="10" name="Picture 9" descr="A logo of a chameleon&#10;&#10;AI-generated content may be incorrect.">
            <a:extLst>
              <a:ext uri="{FF2B5EF4-FFF2-40B4-BE49-F238E27FC236}">
                <a16:creationId xmlns:a16="http://schemas.microsoft.com/office/drawing/2014/main" id="{6AFDB9B0-4B38-8C04-2E4C-826FAEC6B2F4}"/>
              </a:ext>
            </a:extLst>
          </p:cNvPr>
          <p:cNvPicPr>
            <a:picLocks noChangeAspect="1"/>
          </p:cNvPicPr>
          <p:nvPr/>
        </p:nvPicPr>
        <p:blipFill>
          <a:blip r:embed="rId4"/>
          <a:stretch>
            <a:fillRect/>
          </a:stretch>
        </p:blipFill>
        <p:spPr>
          <a:xfrm>
            <a:off x="1966444" y="2643578"/>
            <a:ext cx="2450423" cy="2795040"/>
          </a:xfrm>
          <a:prstGeom prst="rect">
            <a:avLst/>
          </a:prstGeom>
        </p:spPr>
      </p:pic>
    </p:spTree>
    <p:extLst>
      <p:ext uri="{BB962C8B-B14F-4D97-AF65-F5344CB8AC3E}">
        <p14:creationId xmlns:p14="http://schemas.microsoft.com/office/powerpoint/2010/main" val="24394868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6FF76B9-219D-4469-AF87-0236D290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id="{DB88BD78-87E1-424D-B479-C37D8E41B1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0964637" y="2358"/>
            <a:ext cx="1876653" cy="1766008"/>
            <a:chOff x="-648769" y="2358"/>
            <a:chExt cx="1876653" cy="1766008"/>
          </a:xfrm>
        </p:grpSpPr>
        <p:sp>
          <p:nvSpPr>
            <p:cNvPr id="10" name="Freeform: Shape 9">
              <a:extLst>
                <a:ext uri="{FF2B5EF4-FFF2-40B4-BE49-F238E27FC236}">
                  <a16:creationId xmlns:a16="http://schemas.microsoft.com/office/drawing/2014/main" id="{C05EB894-9410-4B20-95E4-7A25101AB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66E38B6-B050-4340-8E8F-3A971DADC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Rectangle 20">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37196" y="6033666"/>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Isosceles Triangle 21">
            <a:extLst>
              <a:ext uri="{FF2B5EF4-FFF2-40B4-BE49-F238E27FC236}">
                <a16:creationId xmlns:a16="http://schemas.microsoft.com/office/drawing/2014/main" id="{633C5E46-DAC5-4661-9C87-22B08E2A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147C274D-8116-30CE-0106-3E34F181CDA4}"/>
              </a:ext>
            </a:extLst>
          </p:cNvPr>
          <p:cNvPicPr>
            <a:picLocks noChangeAspect="1"/>
          </p:cNvPicPr>
          <p:nvPr/>
        </p:nvPicPr>
        <p:blipFill>
          <a:blip r:embed="rId2"/>
          <a:stretch>
            <a:fillRect/>
          </a:stretch>
        </p:blipFill>
        <p:spPr>
          <a:xfrm>
            <a:off x="308757" y="1029057"/>
            <a:ext cx="11567364" cy="4799884"/>
          </a:xfrm>
          <a:prstGeom prst="rect">
            <a:avLst/>
          </a:prstGeom>
          <a:ln>
            <a:noFill/>
          </a:ln>
        </p:spPr>
      </p:pic>
    </p:spTree>
    <p:extLst>
      <p:ext uri="{BB962C8B-B14F-4D97-AF65-F5344CB8AC3E}">
        <p14:creationId xmlns:p14="http://schemas.microsoft.com/office/powerpoint/2010/main" val="5379117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0E0A4CC3-9DA8-BB9B-80EF-490AD505F4D8}"/>
            </a:ext>
          </a:extLst>
        </p:cNvPr>
        <p:cNvGrpSpPr/>
        <p:nvPr/>
      </p:nvGrpSpPr>
      <p:grpSpPr>
        <a:xfrm>
          <a:off x="0" y="0"/>
          <a:ext cx="0" cy="0"/>
          <a:chOff x="0" y="0"/>
          <a:chExt cx="0" cy="0"/>
        </a:xfrm>
      </p:grpSpPr>
      <p:pic>
        <p:nvPicPr>
          <p:cNvPr id="6" name="Image 5">
            <a:extLst>
              <a:ext uri="{FF2B5EF4-FFF2-40B4-BE49-F238E27FC236}">
                <a16:creationId xmlns:a16="http://schemas.microsoft.com/office/drawing/2014/main" id="{E30F9EC6-B6C5-A9A0-BDD8-8D80A526DF4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4118" y="8935"/>
            <a:ext cx="1453171" cy="1492350"/>
          </a:xfrm>
          <a:prstGeom prst="rect">
            <a:avLst/>
          </a:prstGeom>
        </p:spPr>
      </p:pic>
      <p:sp>
        <p:nvSpPr>
          <p:cNvPr id="5" name="Google Shape;925;p28">
            <a:extLst>
              <a:ext uri="{FF2B5EF4-FFF2-40B4-BE49-F238E27FC236}">
                <a16:creationId xmlns:a16="http://schemas.microsoft.com/office/drawing/2014/main" id="{F73361E4-D95A-CEA7-56C4-C478B408550B}"/>
              </a:ext>
            </a:extLst>
          </p:cNvPr>
          <p:cNvSpPr/>
          <p:nvPr/>
        </p:nvSpPr>
        <p:spPr>
          <a:xfrm flipH="1">
            <a:off x="-248776" y="7446084"/>
            <a:ext cx="39" cy="39"/>
          </a:xfrm>
          <a:custGeom>
            <a:avLst/>
            <a:gdLst/>
            <a:ahLst/>
            <a:cxnLst/>
            <a:rect l="l" t="t" r="r" b="b"/>
            <a:pathLst>
              <a:path w="1" h="1" fill="none" extrusionOk="0">
                <a:moveTo>
                  <a:pt x="1" y="1"/>
                </a:moveTo>
                <a:lnTo>
                  <a:pt x="1" y="1"/>
                </a:lnTo>
                <a:close/>
              </a:path>
            </a:pathLst>
          </a:custGeom>
          <a:solidFill>
            <a:schemeClr val="lt1"/>
          </a:solidFill>
          <a:ln w="5650" cap="rnd" cmpd="sng">
            <a:solidFill>
              <a:srgbClr val="FFFFFF"/>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6" name="ZoneTexte 8">
            <a:extLst>
              <a:ext uri="{FF2B5EF4-FFF2-40B4-BE49-F238E27FC236}">
                <a16:creationId xmlns:a16="http://schemas.microsoft.com/office/drawing/2014/main" id="{D18F23D3-4E85-E9F3-5292-9B2FD2840FB0}"/>
              </a:ext>
            </a:extLst>
          </p:cNvPr>
          <p:cNvSpPr txBox="1"/>
          <p:nvPr/>
        </p:nvSpPr>
        <p:spPr>
          <a:xfrm>
            <a:off x="146064" y="1314451"/>
            <a:ext cx="11843112" cy="2893100"/>
          </a:xfrm>
          <a:prstGeom prst="rect">
            <a:avLst/>
          </a:prstGeom>
          <a:noFill/>
        </p:spPr>
        <p:txBody>
          <a:bodyPr wrap="square" lIns="91440" tIns="45720" rIns="91440" bIns="4572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just"/>
            <a:r>
              <a:rPr lang="fr-FR" sz="2200" b="1">
                <a:solidFill>
                  <a:srgbClr val="163A5F"/>
                </a:solidFill>
                <a:latin typeface="Aptos"/>
                <a:ea typeface="Calibri"/>
                <a:cs typeface="Calibri"/>
              </a:rPr>
              <a:t>     </a:t>
            </a:r>
            <a:r>
              <a:rPr lang="fr-FR" sz="2400" b="1">
                <a:solidFill>
                  <a:srgbClr val="2E7D5B"/>
                </a:solidFill>
                <a:latin typeface="Aptos"/>
                <a:ea typeface="Calibri"/>
                <a:cs typeface="Calibri"/>
              </a:rPr>
              <a:t>VRF (Virtual </a:t>
            </a:r>
            <a:r>
              <a:rPr lang="fr-FR" sz="2400" b="1" err="1">
                <a:solidFill>
                  <a:srgbClr val="2E7D5B"/>
                </a:solidFill>
                <a:latin typeface="Aptos"/>
                <a:ea typeface="Calibri"/>
                <a:cs typeface="Calibri"/>
              </a:rPr>
              <a:t>Routing</a:t>
            </a:r>
            <a:r>
              <a:rPr lang="fr-FR" sz="2400" b="1">
                <a:solidFill>
                  <a:srgbClr val="2E7D5B"/>
                </a:solidFill>
                <a:latin typeface="Aptos"/>
                <a:ea typeface="Calibri"/>
                <a:cs typeface="Calibri"/>
              </a:rPr>
              <a:t> and </a:t>
            </a:r>
            <a:r>
              <a:rPr lang="fr-FR" sz="2400" b="1" err="1">
                <a:solidFill>
                  <a:srgbClr val="2E7D5B"/>
                </a:solidFill>
                <a:latin typeface="Aptos"/>
                <a:ea typeface="Calibri"/>
                <a:cs typeface="Calibri"/>
              </a:rPr>
              <a:t>Forwarding</a:t>
            </a:r>
            <a:r>
              <a:rPr lang="fr-FR" sz="2400" b="1">
                <a:solidFill>
                  <a:srgbClr val="2E7D5B"/>
                </a:solidFill>
                <a:latin typeface="Aptos"/>
                <a:ea typeface="Calibri"/>
                <a:cs typeface="Calibri"/>
              </a:rPr>
              <a:t>)</a:t>
            </a:r>
            <a:r>
              <a:rPr lang="fr-FR" sz="2200">
                <a:solidFill>
                  <a:srgbClr val="163A5F"/>
                </a:solidFill>
                <a:latin typeface="Aptos"/>
                <a:ea typeface="Calibri"/>
                <a:cs typeface="Calibri"/>
              </a:rPr>
              <a:t> </a:t>
            </a:r>
            <a:r>
              <a:rPr lang="fr-FR" sz="2200" b="1">
                <a:solidFill>
                  <a:srgbClr val="0070C0"/>
                </a:solidFill>
                <a:latin typeface="Aptos"/>
                <a:ea typeface="Calibri"/>
                <a:cs typeface="Calibri"/>
              </a:rPr>
              <a:t>{</a:t>
            </a:r>
            <a:r>
              <a:rPr lang="fr-FR" sz="2200" b="1">
                <a:solidFill>
                  <a:srgbClr val="0070C0"/>
                </a:solidFill>
                <a:latin typeface="Aptos"/>
                <a:ea typeface="Calibri"/>
              </a:rPr>
              <a:t>Layer 3 network </a:t>
            </a:r>
            <a:r>
              <a:rPr lang="fr-FR" sz="2200" b="1" err="1">
                <a:solidFill>
                  <a:srgbClr val="0070C0"/>
                </a:solidFill>
                <a:latin typeface="Aptos"/>
                <a:ea typeface="Calibri"/>
              </a:rPr>
              <a:t>virtualization</a:t>
            </a:r>
            <a:r>
              <a:rPr lang="fr-FR" sz="2200" b="1">
                <a:solidFill>
                  <a:srgbClr val="0070C0"/>
                </a:solidFill>
                <a:latin typeface="Aptos"/>
                <a:ea typeface="Calibri"/>
              </a:rPr>
              <a:t> </a:t>
            </a:r>
            <a:r>
              <a:rPr lang="fr-FR" sz="2200" b="1" err="1">
                <a:solidFill>
                  <a:srgbClr val="0070C0"/>
                </a:solidFill>
                <a:latin typeface="Aptos"/>
                <a:ea typeface="Calibri"/>
              </a:rPr>
              <a:t>technology</a:t>
            </a:r>
            <a:r>
              <a:rPr lang="fr-FR" sz="2200" b="1">
                <a:solidFill>
                  <a:srgbClr val="0070C0"/>
                </a:solidFill>
                <a:latin typeface="Aptos"/>
                <a:ea typeface="Calibri"/>
                <a:cs typeface="Calibri"/>
              </a:rPr>
              <a:t>}</a:t>
            </a:r>
            <a:r>
              <a:rPr lang="fr-FR" sz="2200">
                <a:latin typeface="Aptos"/>
                <a:ea typeface="Calibri"/>
                <a:cs typeface="Calibri"/>
              </a:rPr>
              <a:t> est une technologie réseau qui permet à un même routeur physique de gérer </a:t>
            </a:r>
            <a:r>
              <a:rPr lang="fr-FR" sz="2200" b="1">
                <a:latin typeface="Aptos"/>
                <a:ea typeface="Calibri"/>
                <a:cs typeface="Calibri"/>
              </a:rPr>
              <a:t>plusieurs tables de routage indépendantes</a:t>
            </a:r>
            <a:r>
              <a:rPr lang="fr-FR" sz="2200">
                <a:latin typeface="Aptos"/>
                <a:ea typeface="Calibri"/>
                <a:cs typeface="Calibri"/>
              </a:rPr>
              <a:t>.</a:t>
            </a:r>
          </a:p>
          <a:p>
            <a:pPr algn="just"/>
            <a:endParaRPr lang="fr-FR" sz="2200">
              <a:latin typeface="Aptos"/>
              <a:ea typeface="Calibri"/>
              <a:cs typeface="Calibri"/>
            </a:endParaRPr>
          </a:p>
          <a:p>
            <a:pPr algn="just"/>
            <a:r>
              <a:rPr lang="fr-FR" sz="2200">
                <a:latin typeface="Aptos"/>
                <a:ea typeface="Calibri"/>
                <a:cs typeface="Calibri"/>
              </a:rPr>
              <a:t>Chaque </a:t>
            </a:r>
            <a:r>
              <a:rPr lang="fr-FR" sz="2200" b="1">
                <a:solidFill>
                  <a:srgbClr val="2E7D5B"/>
                </a:solidFill>
                <a:latin typeface="Aptos"/>
                <a:ea typeface="Calibri"/>
                <a:cs typeface="Calibri"/>
              </a:rPr>
              <a:t>VRF </a:t>
            </a:r>
            <a:r>
              <a:rPr lang="fr-FR" sz="2200">
                <a:latin typeface="Aptos"/>
                <a:ea typeface="Calibri"/>
                <a:cs typeface="Calibri"/>
              </a:rPr>
              <a:t>constitue un </a:t>
            </a:r>
            <a:r>
              <a:rPr lang="fr-FR" sz="2200" b="1">
                <a:latin typeface="Aptos"/>
                <a:ea typeface="Calibri"/>
                <a:cs typeface="Calibri"/>
              </a:rPr>
              <a:t>environnement de routage virtuel et isolé</a:t>
            </a:r>
            <a:r>
              <a:rPr lang="fr-FR" sz="2200">
                <a:latin typeface="Aptos"/>
                <a:ea typeface="Calibri"/>
                <a:cs typeface="Calibri"/>
              </a:rPr>
              <a:t>, permettant à plusieurs réseaux ou clients de partager la même infrastructure physique tout en maintenant leurs informations de routage séparées.</a:t>
            </a:r>
          </a:p>
          <a:p>
            <a:pPr algn="just"/>
            <a:endParaRPr lang="fr-FR" sz="2200">
              <a:latin typeface="Aptos"/>
              <a:ea typeface="Calibri"/>
              <a:cs typeface="Calibri"/>
            </a:endParaRPr>
          </a:p>
        </p:txBody>
      </p:sp>
      <p:pic>
        <p:nvPicPr>
          <p:cNvPr id="18" name="Picture 17">
            <a:extLst>
              <a:ext uri="{FF2B5EF4-FFF2-40B4-BE49-F238E27FC236}">
                <a16:creationId xmlns:a16="http://schemas.microsoft.com/office/drawing/2014/main" id="{1AA27C33-A66A-7813-174A-F27DAB82842E}"/>
              </a:ext>
            </a:extLst>
          </p:cNvPr>
          <p:cNvPicPr>
            <a:picLocks noChangeAspect="1"/>
          </p:cNvPicPr>
          <p:nvPr/>
        </p:nvPicPr>
        <p:blipFill>
          <a:blip r:embed="rId4"/>
          <a:stretch>
            <a:fillRect/>
          </a:stretch>
        </p:blipFill>
        <p:spPr>
          <a:xfrm>
            <a:off x="3156327" y="3759348"/>
            <a:ext cx="5411391" cy="2464594"/>
          </a:xfrm>
          <a:prstGeom prst="rect">
            <a:avLst/>
          </a:prstGeom>
        </p:spPr>
      </p:pic>
      <p:sp>
        <p:nvSpPr>
          <p:cNvPr id="20" name="ZoneTexte 8">
            <a:extLst>
              <a:ext uri="{FF2B5EF4-FFF2-40B4-BE49-F238E27FC236}">
                <a16:creationId xmlns:a16="http://schemas.microsoft.com/office/drawing/2014/main" id="{6C26021E-65B4-284F-B249-63277F1B5271}"/>
              </a:ext>
            </a:extLst>
          </p:cNvPr>
          <p:cNvSpPr txBox="1"/>
          <p:nvPr/>
        </p:nvSpPr>
        <p:spPr>
          <a:xfrm>
            <a:off x="209167" y="6004790"/>
            <a:ext cx="11855603" cy="707886"/>
          </a:xfrm>
          <a:prstGeom prst="rect">
            <a:avLst/>
          </a:prstGeom>
          <a:noFill/>
        </p:spPr>
        <p:txBody>
          <a:bodyPr wrap="square" lIns="91440" tIns="45720" rIns="91440" bIns="4572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just"/>
            <a:r>
              <a:rPr lang="fr-FR" sz="2000" b="1">
                <a:latin typeface="Aptos"/>
                <a:ea typeface="Calibri"/>
                <a:cs typeface="Calibri"/>
              </a:rPr>
              <a:t>En résumé :</a:t>
            </a:r>
            <a:endParaRPr lang="en-US" sz="2000">
              <a:latin typeface="Aptos"/>
              <a:ea typeface="Calibri"/>
              <a:cs typeface="Calibri"/>
            </a:endParaRPr>
          </a:p>
          <a:p>
            <a:pPr algn="just"/>
            <a:r>
              <a:rPr lang="fr-FR" sz="2000">
                <a:latin typeface="Aptos"/>
                <a:ea typeface="Calibri"/>
                <a:cs typeface="Calibri"/>
              </a:rPr>
              <a:t>        Le </a:t>
            </a:r>
            <a:r>
              <a:rPr lang="fr-FR" sz="2000" b="1">
                <a:solidFill>
                  <a:srgbClr val="2E7D5B"/>
                </a:solidFill>
                <a:latin typeface="Aptos"/>
                <a:ea typeface="Calibri"/>
                <a:cs typeface="Calibri"/>
              </a:rPr>
              <a:t>VRF </a:t>
            </a:r>
            <a:r>
              <a:rPr lang="fr-FR" sz="2000">
                <a:latin typeface="Aptos"/>
                <a:ea typeface="Calibri"/>
                <a:cs typeface="Calibri"/>
              </a:rPr>
              <a:t>permet à un seul routeur de fonctionner comme plusieurs routeurs virtuels indépendants.</a:t>
            </a:r>
          </a:p>
        </p:txBody>
      </p:sp>
      <p:sp>
        <p:nvSpPr>
          <p:cNvPr id="22" name="Rectangle 21">
            <a:extLst>
              <a:ext uri="{FF2B5EF4-FFF2-40B4-BE49-F238E27FC236}">
                <a16:creationId xmlns:a16="http://schemas.microsoft.com/office/drawing/2014/main" id="{1E03FDF6-3825-621B-11C1-8108AAB065B0}"/>
              </a:ext>
            </a:extLst>
          </p:cNvPr>
          <p:cNvSpPr/>
          <p:nvPr/>
        </p:nvSpPr>
        <p:spPr>
          <a:xfrm>
            <a:off x="1592097" y="112244"/>
            <a:ext cx="6708888" cy="646331"/>
          </a:xfrm>
          <a:prstGeom prst="rect">
            <a:avLst/>
          </a:prstGeom>
        </p:spPr>
        <p:txBody>
          <a:bodyPr wrap="none" lIns="91440" tIns="45720" rIns="91440" bIns="45720" anchor="t">
            <a:spAutoFit/>
          </a:bodyPr>
          <a:lstStyle/>
          <a:p>
            <a:pPr defTabSz="446088"/>
            <a:r>
              <a:rPr lang="en-US" sz="3600" b="1">
                <a:solidFill>
                  <a:srgbClr val="2E7D5B"/>
                </a:solidFill>
                <a:latin typeface="Agency FB"/>
                <a:ea typeface="+mn-lt"/>
                <a:cs typeface="+mn-lt"/>
              </a:rPr>
              <a:t>VRF : VIRTUAL ROUTING AND FORWARDING</a:t>
            </a:r>
            <a:endParaRPr lang="en-US" b="1">
              <a:solidFill>
                <a:srgbClr val="2E7D5B"/>
              </a:solidFill>
              <a:latin typeface="Agency FB"/>
            </a:endParaRPr>
          </a:p>
        </p:txBody>
      </p:sp>
    </p:spTree>
    <p:extLst>
      <p:ext uri="{BB962C8B-B14F-4D97-AF65-F5344CB8AC3E}">
        <p14:creationId xmlns:p14="http://schemas.microsoft.com/office/powerpoint/2010/main" val="129448671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fade">
                                      <p:cBhvr>
                                        <p:cTn id="14" dur="1000"/>
                                        <p:tgtEl>
                                          <p:spTgt spid="20"/>
                                        </p:tgtEl>
                                      </p:cBhvr>
                                    </p:animEffect>
                                    <p:anim calcmode="lin" valueType="num">
                                      <p:cBhvr>
                                        <p:cTn id="15" dur="1000" fill="hold"/>
                                        <p:tgtEl>
                                          <p:spTgt spid="20"/>
                                        </p:tgtEl>
                                        <p:attrNameLst>
                                          <p:attrName>ppt_x</p:attrName>
                                        </p:attrNameLst>
                                      </p:cBhvr>
                                      <p:tavLst>
                                        <p:tav tm="0">
                                          <p:val>
                                            <p:strVal val="#ppt_x"/>
                                          </p:val>
                                        </p:tav>
                                        <p:tav tm="100000">
                                          <p:val>
                                            <p:strVal val="#ppt_x"/>
                                          </p:val>
                                        </p:tav>
                                      </p:tavLst>
                                    </p:anim>
                                    <p:anim calcmode="lin" valueType="num">
                                      <p:cBhvr>
                                        <p:cTn id="16"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0"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999DA01-FB2D-BF3D-74A0-216FCF19DB5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EBA5C2E-0626-0708-AF0E-430A6D530099}"/>
              </a:ext>
            </a:extLst>
          </p:cNvPr>
          <p:cNvSpPr/>
          <p:nvPr/>
        </p:nvSpPr>
        <p:spPr>
          <a:xfrm>
            <a:off x="1592097" y="112244"/>
            <a:ext cx="5997155" cy="646331"/>
          </a:xfrm>
          <a:prstGeom prst="rect">
            <a:avLst/>
          </a:prstGeom>
        </p:spPr>
        <p:txBody>
          <a:bodyPr wrap="none" lIns="91440" tIns="45720" rIns="91440" bIns="45720" anchor="t">
            <a:spAutoFit/>
          </a:bodyPr>
          <a:lstStyle/>
          <a:p>
            <a:pPr defTabSz="446088"/>
            <a:r>
              <a:rPr lang="en-US" sz="3600" b="1">
                <a:solidFill>
                  <a:srgbClr val="D97706"/>
                </a:solidFill>
                <a:latin typeface="Agency FB"/>
                <a:ea typeface="+mn-lt"/>
                <a:cs typeface="+mn-lt"/>
              </a:rPr>
              <a:t>LDP : LABEL DISTRIBUTION PROTOCOL</a:t>
            </a:r>
            <a:endParaRPr lang="en-US" b="1">
              <a:latin typeface="Agency FB"/>
            </a:endParaRPr>
          </a:p>
        </p:txBody>
      </p:sp>
      <p:pic>
        <p:nvPicPr>
          <p:cNvPr id="6" name="Image 5">
            <a:extLst>
              <a:ext uri="{FF2B5EF4-FFF2-40B4-BE49-F238E27FC236}">
                <a16:creationId xmlns:a16="http://schemas.microsoft.com/office/drawing/2014/main" id="{085D6FA6-E7DB-D74A-2C69-B0B21A5CC47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4118" y="8935"/>
            <a:ext cx="1453171" cy="1492350"/>
          </a:xfrm>
          <a:prstGeom prst="rect">
            <a:avLst/>
          </a:prstGeom>
        </p:spPr>
      </p:pic>
      <p:sp>
        <p:nvSpPr>
          <p:cNvPr id="89" name="ZoneTexte 6">
            <a:extLst>
              <a:ext uri="{FF2B5EF4-FFF2-40B4-BE49-F238E27FC236}">
                <a16:creationId xmlns:a16="http://schemas.microsoft.com/office/drawing/2014/main" id="{E15A9C33-8877-52A4-FE6E-898FA454BA24}"/>
              </a:ext>
            </a:extLst>
          </p:cNvPr>
          <p:cNvSpPr txBox="1"/>
          <p:nvPr/>
        </p:nvSpPr>
        <p:spPr>
          <a:xfrm>
            <a:off x="162609" y="1200602"/>
            <a:ext cx="11916459" cy="954107"/>
          </a:xfrm>
          <a:prstGeom prst="rect">
            <a:avLst/>
          </a:prstGeom>
          <a:noFill/>
        </p:spPr>
        <p:txBody>
          <a:bodyPr wrap="square" lIns="91440" tIns="45720" rIns="91440" bIns="45720" rtlCol="0" anchor="t">
            <a:spAutoFit/>
          </a:bodyPr>
          <a:lstStyle/>
          <a:p>
            <a:pPr algn="just"/>
            <a:r>
              <a:rPr lang="fr-FR" sz="2800" b="1">
                <a:solidFill>
                  <a:srgbClr val="000000"/>
                </a:solidFill>
                <a:ea typeface="+mn-lt"/>
                <a:cs typeface="+mn-lt"/>
              </a:rPr>
              <a:t>     LDP (Label Distribution Protocol)</a:t>
            </a:r>
            <a:r>
              <a:rPr lang="fr-FR" sz="2800">
                <a:solidFill>
                  <a:srgbClr val="000000"/>
                </a:solidFill>
                <a:ea typeface="+mn-lt"/>
                <a:cs typeface="+mn-lt"/>
              </a:rPr>
              <a:t> est le protocole utilisé par </a:t>
            </a:r>
            <a:r>
              <a:rPr lang="fr-FR" sz="2800" b="1">
                <a:solidFill>
                  <a:srgbClr val="D97706"/>
                </a:solidFill>
                <a:ea typeface="+mn-lt"/>
                <a:cs typeface="+mn-lt"/>
              </a:rPr>
              <a:t>les routeurs MPLS</a:t>
            </a:r>
            <a:r>
              <a:rPr lang="fr-FR" sz="2800">
                <a:solidFill>
                  <a:srgbClr val="000000"/>
                </a:solidFill>
                <a:ea typeface="+mn-lt"/>
                <a:cs typeface="+mn-lt"/>
              </a:rPr>
              <a:t> pour échanger automatiquement les labels entre voisins.</a:t>
            </a:r>
            <a:endParaRPr lang="en-US" sz="2800">
              <a:ea typeface="+mn-lt"/>
              <a:cs typeface="+mn-lt"/>
            </a:endParaRPr>
          </a:p>
        </p:txBody>
      </p:sp>
      <p:sp>
        <p:nvSpPr>
          <p:cNvPr id="92" name="ZoneTexte 6">
            <a:extLst>
              <a:ext uri="{FF2B5EF4-FFF2-40B4-BE49-F238E27FC236}">
                <a16:creationId xmlns:a16="http://schemas.microsoft.com/office/drawing/2014/main" id="{843AD0C2-27D1-BC61-735F-75DBA5AFBA8D}"/>
              </a:ext>
            </a:extLst>
          </p:cNvPr>
          <p:cNvSpPr txBox="1"/>
          <p:nvPr/>
        </p:nvSpPr>
        <p:spPr>
          <a:xfrm>
            <a:off x="162608" y="2299880"/>
            <a:ext cx="11916459" cy="954107"/>
          </a:xfrm>
          <a:prstGeom prst="rect">
            <a:avLst/>
          </a:prstGeom>
          <a:noFill/>
        </p:spPr>
        <p:txBody>
          <a:bodyPr wrap="square" lIns="91440" tIns="45720" rIns="91440" bIns="45720" rtlCol="0" anchor="t">
            <a:spAutoFit/>
          </a:bodyPr>
          <a:lstStyle/>
          <a:p>
            <a:pPr algn="just"/>
            <a:r>
              <a:rPr lang="fr-FR" sz="2800">
                <a:solidFill>
                  <a:srgbClr val="000000"/>
                </a:solidFill>
                <a:ea typeface="+mn-lt"/>
                <a:cs typeface="+mn-lt"/>
              </a:rPr>
              <a:t>Grâce à LDP, chaque routeur MPLS apprend quel label utiliser pour atteindre un préfixe donné dans le réseau de l’opérateur.</a:t>
            </a:r>
            <a:endParaRPr lang="en-US">
              <a:ea typeface="+mn-lt"/>
              <a:cs typeface="+mn-lt"/>
            </a:endParaRPr>
          </a:p>
        </p:txBody>
      </p:sp>
      <p:sp>
        <p:nvSpPr>
          <p:cNvPr id="2" name="ZoneTexte 6">
            <a:extLst>
              <a:ext uri="{FF2B5EF4-FFF2-40B4-BE49-F238E27FC236}">
                <a16:creationId xmlns:a16="http://schemas.microsoft.com/office/drawing/2014/main" id="{208F8FDF-0E1C-3C9E-C01C-44D095D65DDA}"/>
              </a:ext>
            </a:extLst>
          </p:cNvPr>
          <p:cNvSpPr txBox="1"/>
          <p:nvPr/>
        </p:nvSpPr>
        <p:spPr>
          <a:xfrm>
            <a:off x="162607" y="3517830"/>
            <a:ext cx="11916459" cy="954107"/>
          </a:xfrm>
          <a:prstGeom prst="rect">
            <a:avLst/>
          </a:prstGeom>
          <a:noFill/>
        </p:spPr>
        <p:txBody>
          <a:bodyPr wrap="square" lIns="91440" tIns="45720" rIns="91440" bIns="45720" rtlCol="0" anchor="t">
            <a:spAutoFit/>
          </a:bodyPr>
          <a:lstStyle/>
          <a:p>
            <a:pPr algn="just"/>
            <a:r>
              <a:rPr lang="fr-FR" sz="2800" b="1">
                <a:solidFill>
                  <a:srgbClr val="D97706"/>
                </a:solidFill>
                <a:ea typeface="+mn-lt"/>
                <a:cs typeface="+mn-lt"/>
              </a:rPr>
              <a:t>MPLS </a:t>
            </a:r>
            <a:r>
              <a:rPr lang="fr-FR" sz="2800">
                <a:solidFill>
                  <a:srgbClr val="000000"/>
                </a:solidFill>
                <a:ea typeface="+mn-lt"/>
                <a:cs typeface="+mn-lt"/>
              </a:rPr>
              <a:t>est la technologie de commutation par labels, tandis que </a:t>
            </a:r>
            <a:r>
              <a:rPr lang="fr-FR" sz="2800" b="1">
                <a:solidFill>
                  <a:srgbClr val="000000"/>
                </a:solidFill>
                <a:ea typeface="+mn-lt"/>
                <a:cs typeface="+mn-lt"/>
              </a:rPr>
              <a:t>LDP</a:t>
            </a:r>
            <a:r>
              <a:rPr lang="fr-FR" sz="2800">
                <a:solidFill>
                  <a:srgbClr val="000000"/>
                </a:solidFill>
                <a:ea typeface="+mn-lt"/>
                <a:cs typeface="+mn-lt"/>
              </a:rPr>
              <a:t> est le protocole chargé de distribuer ces labels entre les routeurs du cœur MPLS.</a:t>
            </a:r>
            <a:endParaRPr lang="en-US">
              <a:ea typeface="+mn-lt"/>
              <a:cs typeface="+mn-lt"/>
            </a:endParaRPr>
          </a:p>
        </p:txBody>
      </p:sp>
      <p:pic>
        <p:nvPicPr>
          <p:cNvPr id="3" name="Picture 2" descr="A black screen with white text&#10;&#10;AI-generated content may be incorrect.">
            <a:extLst>
              <a:ext uri="{FF2B5EF4-FFF2-40B4-BE49-F238E27FC236}">
                <a16:creationId xmlns:a16="http://schemas.microsoft.com/office/drawing/2014/main" id="{49B3CEC3-D85A-A074-ED48-6FEF5CFF47B3}"/>
              </a:ext>
            </a:extLst>
          </p:cNvPr>
          <p:cNvPicPr>
            <a:picLocks noChangeAspect="1"/>
          </p:cNvPicPr>
          <p:nvPr/>
        </p:nvPicPr>
        <p:blipFill>
          <a:blip r:embed="rId4"/>
          <a:stretch>
            <a:fillRect/>
          </a:stretch>
        </p:blipFill>
        <p:spPr>
          <a:xfrm>
            <a:off x="1817557" y="4751122"/>
            <a:ext cx="8556887" cy="1690413"/>
          </a:xfrm>
          <a:prstGeom prst="rect">
            <a:avLst/>
          </a:prstGeom>
        </p:spPr>
      </p:pic>
    </p:spTree>
    <p:extLst>
      <p:ext uri="{BB962C8B-B14F-4D97-AF65-F5344CB8AC3E}">
        <p14:creationId xmlns:p14="http://schemas.microsoft.com/office/powerpoint/2010/main" val="2964040388"/>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A966713B-214E-49D8-A7BF-7A615C4C12D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CBF4FC6-376E-AF7A-50DD-3E83F1C67025}"/>
              </a:ext>
            </a:extLst>
          </p:cNvPr>
          <p:cNvSpPr/>
          <p:nvPr/>
        </p:nvSpPr>
        <p:spPr>
          <a:xfrm>
            <a:off x="1592097" y="112244"/>
            <a:ext cx="4322017" cy="646331"/>
          </a:xfrm>
          <a:prstGeom prst="rect">
            <a:avLst/>
          </a:prstGeom>
        </p:spPr>
        <p:txBody>
          <a:bodyPr wrap="none" lIns="91440" tIns="45720" rIns="91440" bIns="45720" anchor="t">
            <a:spAutoFit/>
          </a:bodyPr>
          <a:lstStyle/>
          <a:p>
            <a:pPr defTabSz="446088"/>
            <a:r>
              <a:rPr lang="en-US" sz="3600" b="1">
                <a:solidFill>
                  <a:srgbClr val="6B5CA5"/>
                </a:solidFill>
                <a:latin typeface="Agency FB"/>
                <a:ea typeface="+mn-lt"/>
                <a:cs typeface="+mn-lt"/>
              </a:rPr>
              <a:t>IS-IS DANS LE CŒUR MPLS</a:t>
            </a:r>
            <a:endParaRPr lang="en-US" b="1">
              <a:solidFill>
                <a:srgbClr val="6B5CA5"/>
              </a:solidFill>
              <a:latin typeface="Agency FB"/>
            </a:endParaRPr>
          </a:p>
        </p:txBody>
      </p:sp>
      <p:pic>
        <p:nvPicPr>
          <p:cNvPr id="6" name="Image 5">
            <a:extLst>
              <a:ext uri="{FF2B5EF4-FFF2-40B4-BE49-F238E27FC236}">
                <a16:creationId xmlns:a16="http://schemas.microsoft.com/office/drawing/2014/main" id="{3112E261-1704-C330-3500-6256A17BF8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4118" y="8935"/>
            <a:ext cx="1453171" cy="1492350"/>
          </a:xfrm>
          <a:prstGeom prst="rect">
            <a:avLst/>
          </a:prstGeom>
        </p:spPr>
      </p:pic>
      <p:sp>
        <p:nvSpPr>
          <p:cNvPr id="89" name="ZoneTexte 6">
            <a:extLst>
              <a:ext uri="{FF2B5EF4-FFF2-40B4-BE49-F238E27FC236}">
                <a16:creationId xmlns:a16="http://schemas.microsoft.com/office/drawing/2014/main" id="{22EAE059-76E3-26DC-5BC9-C4D4ED5DE5BE}"/>
              </a:ext>
            </a:extLst>
          </p:cNvPr>
          <p:cNvSpPr txBox="1"/>
          <p:nvPr/>
        </p:nvSpPr>
        <p:spPr>
          <a:xfrm>
            <a:off x="187593" y="1362995"/>
            <a:ext cx="11916459" cy="1384995"/>
          </a:xfrm>
          <a:prstGeom prst="rect">
            <a:avLst/>
          </a:prstGeom>
          <a:noFill/>
        </p:spPr>
        <p:txBody>
          <a:bodyPr wrap="square" lIns="91440" tIns="45720" rIns="91440" bIns="45720" rtlCol="0" anchor="t">
            <a:spAutoFit/>
          </a:bodyPr>
          <a:lstStyle/>
          <a:p>
            <a:pPr algn="just"/>
            <a:r>
              <a:rPr lang="fr-FR" sz="2800" b="1">
                <a:solidFill>
                  <a:srgbClr val="6B5CA5"/>
                </a:solidFill>
                <a:ea typeface="+mn-lt"/>
                <a:cs typeface="+mn-lt"/>
              </a:rPr>
              <a:t>  IS-IS (</a:t>
            </a:r>
            <a:r>
              <a:rPr lang="fr-FR" sz="2800" b="1" err="1">
                <a:solidFill>
                  <a:srgbClr val="6B5CA5"/>
                </a:solidFill>
                <a:ea typeface="+mn-lt"/>
                <a:cs typeface="+mn-lt"/>
              </a:rPr>
              <a:t>Intermediate</a:t>
            </a:r>
            <a:r>
              <a:rPr lang="fr-FR" sz="2800" b="1">
                <a:solidFill>
                  <a:srgbClr val="6B5CA5"/>
                </a:solidFill>
                <a:ea typeface="+mn-lt"/>
                <a:cs typeface="+mn-lt"/>
              </a:rPr>
              <a:t> System to </a:t>
            </a:r>
            <a:r>
              <a:rPr lang="fr-FR" sz="2800" b="1" err="1">
                <a:solidFill>
                  <a:srgbClr val="6B5CA5"/>
                </a:solidFill>
                <a:ea typeface="+mn-lt"/>
                <a:cs typeface="+mn-lt"/>
              </a:rPr>
              <a:t>Intermediate</a:t>
            </a:r>
            <a:r>
              <a:rPr lang="fr-FR" sz="2800" b="1">
                <a:solidFill>
                  <a:srgbClr val="6B5CA5"/>
                </a:solidFill>
                <a:ea typeface="+mn-lt"/>
                <a:cs typeface="+mn-lt"/>
              </a:rPr>
              <a:t> System)</a:t>
            </a:r>
            <a:r>
              <a:rPr lang="fr-FR" sz="2800">
                <a:solidFill>
                  <a:srgbClr val="000000"/>
                </a:solidFill>
                <a:ea typeface="+mn-lt"/>
                <a:cs typeface="+mn-lt"/>
              </a:rPr>
              <a:t> est utilisé comme </a:t>
            </a:r>
            <a:r>
              <a:rPr lang="fr-FR" sz="2800" b="1">
                <a:solidFill>
                  <a:srgbClr val="000000"/>
                </a:solidFill>
                <a:ea typeface="+mn-lt"/>
                <a:cs typeface="+mn-lt"/>
              </a:rPr>
              <a:t>protocole de routage</a:t>
            </a:r>
            <a:r>
              <a:rPr lang="fr-FR" sz="2800">
                <a:solidFill>
                  <a:srgbClr val="000000"/>
                </a:solidFill>
                <a:ea typeface="+mn-lt"/>
                <a:cs typeface="+mn-lt"/>
              </a:rPr>
              <a:t> interne de l’opérateur pour assurer la connectivité entre les routeurs </a:t>
            </a:r>
            <a:r>
              <a:rPr lang="fr-FR" sz="2800" b="1">
                <a:solidFill>
                  <a:srgbClr val="000000"/>
                </a:solidFill>
                <a:ea typeface="+mn-lt"/>
                <a:cs typeface="+mn-lt"/>
              </a:rPr>
              <a:t>PE </a:t>
            </a:r>
            <a:r>
              <a:rPr lang="fr-FR" sz="2800">
                <a:solidFill>
                  <a:srgbClr val="000000"/>
                </a:solidFill>
                <a:ea typeface="+mn-lt"/>
                <a:cs typeface="+mn-lt"/>
              </a:rPr>
              <a:t>et </a:t>
            </a:r>
            <a:r>
              <a:rPr lang="fr-FR" sz="2800" b="1">
                <a:solidFill>
                  <a:srgbClr val="000000"/>
                </a:solidFill>
                <a:ea typeface="+mn-lt"/>
                <a:cs typeface="+mn-lt"/>
              </a:rPr>
              <a:t>P</a:t>
            </a:r>
            <a:r>
              <a:rPr lang="fr-FR" sz="2800">
                <a:solidFill>
                  <a:srgbClr val="000000"/>
                </a:solidFill>
                <a:ea typeface="+mn-lt"/>
                <a:cs typeface="+mn-lt"/>
              </a:rPr>
              <a:t>.</a:t>
            </a:r>
            <a:endParaRPr lang="en-US">
              <a:ea typeface="+mn-lt"/>
              <a:cs typeface="+mn-lt"/>
            </a:endParaRPr>
          </a:p>
        </p:txBody>
      </p:sp>
      <p:sp>
        <p:nvSpPr>
          <p:cNvPr id="92" name="ZoneTexte 6">
            <a:extLst>
              <a:ext uri="{FF2B5EF4-FFF2-40B4-BE49-F238E27FC236}">
                <a16:creationId xmlns:a16="http://schemas.microsoft.com/office/drawing/2014/main" id="{88B3494E-86AC-F2DF-1AE9-A9F150639233}"/>
              </a:ext>
            </a:extLst>
          </p:cNvPr>
          <p:cNvSpPr txBox="1"/>
          <p:nvPr/>
        </p:nvSpPr>
        <p:spPr>
          <a:xfrm>
            <a:off x="187592" y="2749584"/>
            <a:ext cx="11916459" cy="1384995"/>
          </a:xfrm>
          <a:prstGeom prst="rect">
            <a:avLst/>
          </a:prstGeom>
          <a:noFill/>
        </p:spPr>
        <p:txBody>
          <a:bodyPr wrap="square" lIns="91440" tIns="45720" rIns="91440" bIns="45720" rtlCol="0" anchor="t">
            <a:spAutoFit/>
          </a:bodyPr>
          <a:lstStyle/>
          <a:p>
            <a:pPr algn="just"/>
            <a:r>
              <a:rPr lang="fr-FR" sz="2800">
                <a:solidFill>
                  <a:srgbClr val="000000"/>
                </a:solidFill>
                <a:ea typeface="+mn-lt"/>
                <a:cs typeface="+mn-lt"/>
              </a:rPr>
              <a:t>Avant que </a:t>
            </a:r>
            <a:r>
              <a:rPr lang="fr-FR" sz="2800" b="1">
                <a:solidFill>
                  <a:srgbClr val="D97706"/>
                </a:solidFill>
                <a:ea typeface="+mn-lt"/>
                <a:cs typeface="+mn-lt"/>
              </a:rPr>
              <a:t>MPLS </a:t>
            </a:r>
            <a:r>
              <a:rPr lang="fr-FR" sz="2800">
                <a:solidFill>
                  <a:srgbClr val="000000"/>
                </a:solidFill>
                <a:ea typeface="+mn-lt"/>
                <a:cs typeface="+mn-lt"/>
              </a:rPr>
              <a:t>puisse transporter les paquets par labels, les routeurs du cœur doivent d’abord connaître les chemins IP. </a:t>
            </a:r>
            <a:r>
              <a:rPr lang="fr-FR" sz="2800" b="1">
                <a:solidFill>
                  <a:srgbClr val="6B5CA5"/>
                </a:solidFill>
                <a:ea typeface="+mn-lt"/>
                <a:cs typeface="+mn-lt"/>
              </a:rPr>
              <a:t>IS-IS</a:t>
            </a:r>
            <a:r>
              <a:rPr lang="fr-FR" sz="2800">
                <a:solidFill>
                  <a:srgbClr val="000000"/>
                </a:solidFill>
                <a:ea typeface="+mn-lt"/>
                <a:cs typeface="+mn-lt"/>
              </a:rPr>
              <a:t> fournit cette connectivité entre les routeurs du cœur.</a:t>
            </a:r>
            <a:endParaRPr lang="en-US">
              <a:ea typeface="+mn-lt"/>
              <a:cs typeface="+mn-lt"/>
            </a:endParaRPr>
          </a:p>
        </p:txBody>
      </p:sp>
      <p:pic>
        <p:nvPicPr>
          <p:cNvPr id="3" name="Picture 2" descr="A screenshot of a computer program&#10;&#10;AI-generated content may be incorrect.">
            <a:extLst>
              <a:ext uri="{FF2B5EF4-FFF2-40B4-BE49-F238E27FC236}">
                <a16:creationId xmlns:a16="http://schemas.microsoft.com/office/drawing/2014/main" id="{1C3BCD99-D9A8-9B01-B52B-283227A7EB04}"/>
              </a:ext>
            </a:extLst>
          </p:cNvPr>
          <p:cNvPicPr>
            <a:picLocks noChangeAspect="1"/>
          </p:cNvPicPr>
          <p:nvPr/>
        </p:nvPicPr>
        <p:blipFill>
          <a:blip r:embed="rId4"/>
          <a:stretch>
            <a:fillRect/>
          </a:stretch>
        </p:blipFill>
        <p:spPr>
          <a:xfrm>
            <a:off x="1979952" y="4741343"/>
            <a:ext cx="7869837" cy="2016020"/>
          </a:xfrm>
          <a:prstGeom prst="rect">
            <a:avLst/>
          </a:prstGeom>
        </p:spPr>
      </p:pic>
      <p:sp>
        <p:nvSpPr>
          <p:cNvPr id="7" name="Google Shape;987;p30">
            <a:extLst>
              <a:ext uri="{FF2B5EF4-FFF2-40B4-BE49-F238E27FC236}">
                <a16:creationId xmlns:a16="http://schemas.microsoft.com/office/drawing/2014/main" id="{9740B625-CA95-5881-9556-D1F7B6D696B4}"/>
              </a:ext>
            </a:extLst>
          </p:cNvPr>
          <p:cNvSpPr txBox="1">
            <a:spLocks/>
          </p:cNvSpPr>
          <p:nvPr/>
        </p:nvSpPr>
        <p:spPr>
          <a:xfrm>
            <a:off x="190299" y="4135540"/>
            <a:ext cx="6789738" cy="445247"/>
          </a:xfrm>
          <a:prstGeom prst="rect">
            <a:avLst/>
          </a:prstGeom>
          <a:noFill/>
          <a:ln>
            <a:noFill/>
          </a:ln>
        </p:spPr>
        <p:txBody>
          <a:bodyPr spcFirstLastPara="1" wrap="square" lIns="121900" tIns="0" rIns="121900" bIns="0" anchor="t" anchorCtr="0">
            <a:noAutofit/>
          </a:bodyP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67" b="0" i="0" u="none" strike="noStrike" kern="1200" cap="none">
                <a:solidFill>
                  <a:srgbClr val="000000"/>
                </a:solidFill>
                <a:latin typeface="Arial"/>
                <a:ea typeface="Arial"/>
                <a:cs typeface="Arial"/>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67" b="0" i="0" u="none" strike="noStrike" kern="1200" cap="none">
                <a:solidFill>
                  <a:srgbClr val="000000"/>
                </a:solidFill>
                <a:latin typeface="Arial"/>
                <a:ea typeface="Arial"/>
                <a:cs typeface="Arial"/>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67" b="0" i="0" u="none" strike="noStrike" kern="1200" cap="none">
                <a:solidFill>
                  <a:srgbClr val="000000"/>
                </a:solidFill>
                <a:latin typeface="Arial"/>
                <a:ea typeface="Arial"/>
                <a:cs typeface="Arial"/>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67" b="0" i="0" u="none" strike="noStrike" kern="1200" cap="none">
                <a:solidFill>
                  <a:srgbClr val="000000"/>
                </a:solidFill>
                <a:latin typeface="Arial"/>
                <a:ea typeface="Arial"/>
                <a:cs typeface="Arial"/>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67" b="0" i="0" u="none" strike="noStrike" kern="1200" cap="none">
                <a:solidFill>
                  <a:srgbClr val="000000"/>
                </a:solidFill>
                <a:latin typeface="Arial"/>
                <a:ea typeface="Arial"/>
                <a:cs typeface="Arial"/>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67" b="0" i="0" u="none" strike="noStrike" kern="1200" cap="none">
                <a:solidFill>
                  <a:srgbClr val="000000"/>
                </a:solidFill>
                <a:latin typeface="Arial"/>
                <a:ea typeface="Arial"/>
                <a:cs typeface="Arial"/>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67" b="0" i="0" u="none" strike="noStrike" kern="1200" cap="none">
                <a:solidFill>
                  <a:srgbClr val="000000"/>
                </a:solidFill>
                <a:latin typeface="Arial"/>
                <a:ea typeface="Arial"/>
                <a:cs typeface="Arial"/>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67" b="0" i="0" u="none" strike="noStrike" kern="1200" cap="none">
                <a:solidFill>
                  <a:srgbClr val="000000"/>
                </a:solidFill>
                <a:latin typeface="Arial"/>
                <a:ea typeface="Arial"/>
                <a:cs typeface="Arial"/>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67" b="0" i="0" u="none" strike="noStrike" kern="1200" cap="none">
                <a:solidFill>
                  <a:srgbClr val="000000"/>
                </a:solidFill>
                <a:latin typeface="Arial"/>
                <a:ea typeface="Arial"/>
                <a:cs typeface="Arial"/>
                <a:sym typeface="Arial"/>
              </a:defRPr>
            </a:lvl9pPr>
          </a:lstStyle>
          <a:p>
            <a:r>
              <a:rPr lang="en-US" sz="2650" b="1">
                <a:solidFill>
                  <a:srgbClr val="6B5CA5"/>
                </a:solidFill>
              </a:rPr>
              <a:t>Example IS-IS configuration</a:t>
            </a:r>
            <a:endParaRPr lang="en-US" sz="1850" b="1">
              <a:solidFill>
                <a:srgbClr val="6B5CA5"/>
              </a:solidFill>
            </a:endParaRPr>
          </a:p>
        </p:txBody>
      </p:sp>
    </p:spTree>
    <p:extLst>
      <p:ext uri="{BB962C8B-B14F-4D97-AF65-F5344CB8AC3E}">
        <p14:creationId xmlns:p14="http://schemas.microsoft.com/office/powerpoint/2010/main" val="124222881"/>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6ABB4B83-0F68-D893-F881-3B6DEE543D2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EE03F8E-D88B-C486-5090-08008C7B9899}"/>
              </a:ext>
            </a:extLst>
          </p:cNvPr>
          <p:cNvSpPr/>
          <p:nvPr/>
        </p:nvSpPr>
        <p:spPr>
          <a:xfrm>
            <a:off x="1592097" y="112244"/>
            <a:ext cx="3687228" cy="646331"/>
          </a:xfrm>
          <a:prstGeom prst="rect">
            <a:avLst/>
          </a:prstGeom>
        </p:spPr>
        <p:txBody>
          <a:bodyPr wrap="none" lIns="91440" tIns="45720" rIns="91440" bIns="45720" anchor="t">
            <a:spAutoFit/>
          </a:bodyPr>
          <a:lstStyle/>
          <a:p>
            <a:pPr defTabSz="446088"/>
            <a:r>
              <a:rPr lang="en-US" sz="3600" b="1">
                <a:solidFill>
                  <a:srgbClr val="2F6B9A"/>
                </a:solidFill>
                <a:latin typeface="Agency FB"/>
                <a:ea typeface="+mn-lt"/>
                <a:cs typeface="+mn-lt"/>
              </a:rPr>
              <a:t>OSPF : ENTRE CE ET PE</a:t>
            </a:r>
            <a:endParaRPr lang="en-US" b="1">
              <a:solidFill>
                <a:srgbClr val="2F6B9A"/>
              </a:solidFill>
              <a:latin typeface="Agency FB"/>
            </a:endParaRPr>
          </a:p>
        </p:txBody>
      </p:sp>
      <p:pic>
        <p:nvPicPr>
          <p:cNvPr id="6" name="Image 5">
            <a:extLst>
              <a:ext uri="{FF2B5EF4-FFF2-40B4-BE49-F238E27FC236}">
                <a16:creationId xmlns:a16="http://schemas.microsoft.com/office/drawing/2014/main" id="{5FDDBE2D-0470-D07F-32DA-FA916132E5C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4118" y="8935"/>
            <a:ext cx="1453171" cy="1492350"/>
          </a:xfrm>
          <a:prstGeom prst="rect">
            <a:avLst/>
          </a:prstGeom>
        </p:spPr>
      </p:pic>
      <p:sp>
        <p:nvSpPr>
          <p:cNvPr id="89" name="ZoneTexte 6">
            <a:extLst>
              <a:ext uri="{FF2B5EF4-FFF2-40B4-BE49-F238E27FC236}">
                <a16:creationId xmlns:a16="http://schemas.microsoft.com/office/drawing/2014/main" id="{84EDF242-E376-E1FD-2E45-33192400DCF6}"/>
              </a:ext>
            </a:extLst>
          </p:cNvPr>
          <p:cNvSpPr txBox="1"/>
          <p:nvPr/>
        </p:nvSpPr>
        <p:spPr>
          <a:xfrm>
            <a:off x="150117" y="1550373"/>
            <a:ext cx="11916459" cy="1384995"/>
          </a:xfrm>
          <a:prstGeom prst="rect">
            <a:avLst/>
          </a:prstGeom>
          <a:noFill/>
        </p:spPr>
        <p:txBody>
          <a:bodyPr wrap="square" lIns="91440" tIns="45720" rIns="91440" bIns="45720" rtlCol="0" anchor="t">
            <a:spAutoFit/>
          </a:bodyPr>
          <a:lstStyle/>
          <a:p>
            <a:pPr algn="just"/>
            <a:r>
              <a:rPr lang="fr-FR" sz="2800" b="1">
                <a:solidFill>
                  <a:srgbClr val="2F6B9A"/>
                </a:solidFill>
                <a:ea typeface="+mn-lt"/>
                <a:cs typeface="+mn-lt"/>
              </a:rPr>
              <a:t>  OSPF (Open </a:t>
            </a:r>
            <a:r>
              <a:rPr lang="fr-FR" sz="2800" b="1" err="1">
                <a:solidFill>
                  <a:srgbClr val="2F6B9A"/>
                </a:solidFill>
                <a:ea typeface="+mn-lt"/>
                <a:cs typeface="+mn-lt"/>
              </a:rPr>
              <a:t>Shortest</a:t>
            </a:r>
            <a:r>
              <a:rPr lang="fr-FR" sz="2800" b="1">
                <a:solidFill>
                  <a:srgbClr val="2F6B9A"/>
                </a:solidFill>
                <a:ea typeface="+mn-lt"/>
                <a:cs typeface="+mn-lt"/>
              </a:rPr>
              <a:t> Path First)</a:t>
            </a:r>
            <a:r>
              <a:rPr lang="fr-FR" sz="2800">
                <a:solidFill>
                  <a:srgbClr val="000000"/>
                </a:solidFill>
                <a:ea typeface="+mn-lt"/>
                <a:cs typeface="+mn-lt"/>
              </a:rPr>
              <a:t> est un protocole de routage dynamique à état de liens qui calcule le meilleur chemin vers les réseaux de destination à l’aide du coût.</a:t>
            </a:r>
            <a:endParaRPr lang="en-US">
              <a:ea typeface="+mn-lt"/>
              <a:cs typeface="+mn-lt"/>
            </a:endParaRPr>
          </a:p>
        </p:txBody>
      </p:sp>
      <p:sp>
        <p:nvSpPr>
          <p:cNvPr id="92" name="ZoneTexte 6">
            <a:extLst>
              <a:ext uri="{FF2B5EF4-FFF2-40B4-BE49-F238E27FC236}">
                <a16:creationId xmlns:a16="http://schemas.microsoft.com/office/drawing/2014/main" id="{071A8AD4-E5CC-F041-1826-6333BE377386}"/>
              </a:ext>
            </a:extLst>
          </p:cNvPr>
          <p:cNvSpPr txBox="1"/>
          <p:nvPr/>
        </p:nvSpPr>
        <p:spPr>
          <a:xfrm>
            <a:off x="150116" y="2936962"/>
            <a:ext cx="11916459" cy="523220"/>
          </a:xfrm>
          <a:prstGeom prst="rect">
            <a:avLst/>
          </a:prstGeom>
          <a:noFill/>
        </p:spPr>
        <p:txBody>
          <a:bodyPr wrap="square" lIns="91440" tIns="45720" rIns="91440" bIns="45720" rtlCol="0" anchor="t">
            <a:spAutoFit/>
          </a:bodyPr>
          <a:lstStyle/>
          <a:p>
            <a:pPr algn="just"/>
            <a:r>
              <a:rPr lang="fr-FR" sz="2800">
                <a:solidFill>
                  <a:srgbClr val="000000"/>
                </a:solidFill>
                <a:ea typeface="+mn-lt"/>
                <a:cs typeface="+mn-lt"/>
              </a:rPr>
              <a:t>Utilisé entre le </a:t>
            </a:r>
            <a:r>
              <a:rPr lang="fr-FR" sz="2800" b="1">
                <a:solidFill>
                  <a:srgbClr val="000000"/>
                </a:solidFill>
                <a:ea typeface="+mn-lt"/>
                <a:cs typeface="+mn-lt"/>
              </a:rPr>
              <a:t>CE </a:t>
            </a:r>
            <a:r>
              <a:rPr lang="fr-FR" sz="2800">
                <a:solidFill>
                  <a:srgbClr val="000000"/>
                </a:solidFill>
                <a:ea typeface="+mn-lt"/>
                <a:cs typeface="+mn-lt"/>
              </a:rPr>
              <a:t>et le </a:t>
            </a:r>
            <a:r>
              <a:rPr lang="fr-FR" sz="2800" b="1">
                <a:solidFill>
                  <a:srgbClr val="000000"/>
                </a:solidFill>
                <a:ea typeface="+mn-lt"/>
                <a:cs typeface="+mn-lt"/>
              </a:rPr>
              <a:t>PE </a:t>
            </a:r>
            <a:r>
              <a:rPr lang="fr-FR" sz="2800">
                <a:solidFill>
                  <a:srgbClr val="000000"/>
                </a:solidFill>
                <a:ea typeface="+mn-lt"/>
                <a:cs typeface="+mn-lt"/>
              </a:rPr>
              <a:t>pour échanger les routes des réseaux clients.</a:t>
            </a:r>
            <a:endParaRPr lang="en-US">
              <a:ea typeface="+mn-lt"/>
              <a:cs typeface="+mn-lt"/>
            </a:endParaRPr>
          </a:p>
        </p:txBody>
      </p:sp>
      <p:pic>
        <p:nvPicPr>
          <p:cNvPr id="2" name="Picture 1" descr="A black background with white text&#10;&#10;AI-generated content may be incorrect.">
            <a:extLst>
              <a:ext uri="{FF2B5EF4-FFF2-40B4-BE49-F238E27FC236}">
                <a16:creationId xmlns:a16="http://schemas.microsoft.com/office/drawing/2014/main" id="{84F913D9-0E39-7E7C-1746-9DD3AAA285FA}"/>
              </a:ext>
            </a:extLst>
          </p:cNvPr>
          <p:cNvPicPr>
            <a:picLocks noChangeAspect="1"/>
          </p:cNvPicPr>
          <p:nvPr/>
        </p:nvPicPr>
        <p:blipFill>
          <a:blip r:embed="rId4"/>
          <a:stretch>
            <a:fillRect/>
          </a:stretch>
        </p:blipFill>
        <p:spPr>
          <a:xfrm>
            <a:off x="874505" y="4227773"/>
            <a:ext cx="10467975" cy="1800225"/>
          </a:xfrm>
          <a:prstGeom prst="rect">
            <a:avLst/>
          </a:prstGeom>
        </p:spPr>
      </p:pic>
      <p:sp>
        <p:nvSpPr>
          <p:cNvPr id="5" name="Google Shape;987;p30">
            <a:extLst>
              <a:ext uri="{FF2B5EF4-FFF2-40B4-BE49-F238E27FC236}">
                <a16:creationId xmlns:a16="http://schemas.microsoft.com/office/drawing/2014/main" id="{C9D714AD-C003-C11A-4677-E1F85345B0DC}"/>
              </a:ext>
            </a:extLst>
          </p:cNvPr>
          <p:cNvSpPr txBox="1">
            <a:spLocks/>
          </p:cNvSpPr>
          <p:nvPr/>
        </p:nvSpPr>
        <p:spPr>
          <a:xfrm>
            <a:off x="152824" y="3660851"/>
            <a:ext cx="6789738" cy="445247"/>
          </a:xfrm>
          <a:prstGeom prst="rect">
            <a:avLst/>
          </a:prstGeom>
          <a:noFill/>
          <a:ln>
            <a:noFill/>
          </a:ln>
        </p:spPr>
        <p:txBody>
          <a:bodyPr spcFirstLastPara="1" wrap="square" lIns="121900" tIns="0" rIns="121900" bIns="0" anchor="t" anchorCtr="0">
            <a:noAutofit/>
          </a:bodyP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a:defRPr sz="1867" b="0" i="0" u="none" strike="noStrike" kern="1200" cap="none">
                <a:solidFill>
                  <a:srgbClr val="000000"/>
                </a:solidFill>
                <a:latin typeface="Arial"/>
                <a:ea typeface="Arial"/>
                <a:cs typeface="Arial"/>
                <a:sym typeface="Arial"/>
              </a:defRPr>
            </a:lvl1pPr>
            <a:lvl2pPr marL="457200" marR="0" lvl="1" algn="l" defTabSz="914400" rtl="0" eaLnBrk="1" latinLnBrk="0" hangingPunct="1">
              <a:lnSpc>
                <a:spcPct val="100000"/>
              </a:lnSpc>
              <a:spcBef>
                <a:spcPts val="0"/>
              </a:spcBef>
              <a:spcAft>
                <a:spcPts val="0"/>
              </a:spcAft>
              <a:buClr>
                <a:srgbClr val="000000"/>
              </a:buClr>
              <a:buFont typeface="Arial"/>
              <a:defRPr sz="1867" b="0" i="0" u="none" strike="noStrike" kern="1200" cap="none">
                <a:solidFill>
                  <a:srgbClr val="000000"/>
                </a:solidFill>
                <a:latin typeface="Arial"/>
                <a:ea typeface="Arial"/>
                <a:cs typeface="Arial"/>
                <a:sym typeface="Arial"/>
              </a:defRPr>
            </a:lvl2pPr>
            <a:lvl3pPr marL="914400" marR="0" lvl="2" algn="l" defTabSz="914400" rtl="0" eaLnBrk="1" latinLnBrk="0" hangingPunct="1">
              <a:lnSpc>
                <a:spcPct val="100000"/>
              </a:lnSpc>
              <a:spcBef>
                <a:spcPts val="0"/>
              </a:spcBef>
              <a:spcAft>
                <a:spcPts val="0"/>
              </a:spcAft>
              <a:buClr>
                <a:srgbClr val="000000"/>
              </a:buClr>
              <a:buFont typeface="Arial"/>
              <a:defRPr sz="1867" b="0" i="0" u="none" strike="noStrike" kern="1200" cap="none">
                <a:solidFill>
                  <a:srgbClr val="000000"/>
                </a:solidFill>
                <a:latin typeface="Arial"/>
                <a:ea typeface="Arial"/>
                <a:cs typeface="Arial"/>
                <a:sym typeface="Arial"/>
              </a:defRPr>
            </a:lvl3pPr>
            <a:lvl4pPr marL="1371600" marR="0" lvl="3" algn="l" defTabSz="914400" rtl="0" eaLnBrk="1" latinLnBrk="0" hangingPunct="1">
              <a:lnSpc>
                <a:spcPct val="100000"/>
              </a:lnSpc>
              <a:spcBef>
                <a:spcPts val="0"/>
              </a:spcBef>
              <a:spcAft>
                <a:spcPts val="0"/>
              </a:spcAft>
              <a:buClr>
                <a:srgbClr val="000000"/>
              </a:buClr>
              <a:buFont typeface="Arial"/>
              <a:defRPr sz="1867" b="0" i="0" u="none" strike="noStrike" kern="1200" cap="none">
                <a:solidFill>
                  <a:srgbClr val="000000"/>
                </a:solidFill>
                <a:latin typeface="Arial"/>
                <a:ea typeface="Arial"/>
                <a:cs typeface="Arial"/>
                <a:sym typeface="Arial"/>
              </a:defRPr>
            </a:lvl4pPr>
            <a:lvl5pPr marL="1828800" marR="0" lvl="4" algn="l" defTabSz="914400" rtl="0" eaLnBrk="1" latinLnBrk="0" hangingPunct="1">
              <a:lnSpc>
                <a:spcPct val="100000"/>
              </a:lnSpc>
              <a:spcBef>
                <a:spcPts val="0"/>
              </a:spcBef>
              <a:spcAft>
                <a:spcPts val="0"/>
              </a:spcAft>
              <a:buClr>
                <a:srgbClr val="000000"/>
              </a:buClr>
              <a:buFont typeface="Arial"/>
              <a:defRPr sz="1867" b="0" i="0" u="none" strike="noStrike" kern="1200" cap="none">
                <a:solidFill>
                  <a:srgbClr val="000000"/>
                </a:solidFill>
                <a:latin typeface="Arial"/>
                <a:ea typeface="Arial"/>
                <a:cs typeface="Arial"/>
                <a:sym typeface="Arial"/>
              </a:defRPr>
            </a:lvl5pPr>
            <a:lvl6pPr marL="2286000" marR="0" lvl="5" algn="l" defTabSz="914400" rtl="0" eaLnBrk="1" latinLnBrk="0" hangingPunct="1">
              <a:lnSpc>
                <a:spcPct val="100000"/>
              </a:lnSpc>
              <a:spcBef>
                <a:spcPts val="0"/>
              </a:spcBef>
              <a:spcAft>
                <a:spcPts val="0"/>
              </a:spcAft>
              <a:buClr>
                <a:srgbClr val="000000"/>
              </a:buClr>
              <a:buFont typeface="Arial"/>
              <a:defRPr sz="1867" b="0" i="0" u="none" strike="noStrike" kern="1200" cap="none">
                <a:solidFill>
                  <a:srgbClr val="000000"/>
                </a:solidFill>
                <a:latin typeface="Arial"/>
                <a:ea typeface="Arial"/>
                <a:cs typeface="Arial"/>
                <a:sym typeface="Arial"/>
              </a:defRPr>
            </a:lvl6pPr>
            <a:lvl7pPr marL="2743200" marR="0" lvl="6" algn="l" defTabSz="914400" rtl="0" eaLnBrk="1" latinLnBrk="0" hangingPunct="1">
              <a:lnSpc>
                <a:spcPct val="100000"/>
              </a:lnSpc>
              <a:spcBef>
                <a:spcPts val="0"/>
              </a:spcBef>
              <a:spcAft>
                <a:spcPts val="0"/>
              </a:spcAft>
              <a:buClr>
                <a:srgbClr val="000000"/>
              </a:buClr>
              <a:buFont typeface="Arial"/>
              <a:defRPr sz="1867" b="0" i="0" u="none" strike="noStrike" kern="1200" cap="none">
                <a:solidFill>
                  <a:srgbClr val="000000"/>
                </a:solidFill>
                <a:latin typeface="Arial"/>
                <a:ea typeface="Arial"/>
                <a:cs typeface="Arial"/>
                <a:sym typeface="Arial"/>
              </a:defRPr>
            </a:lvl7pPr>
            <a:lvl8pPr marL="3200400" marR="0" lvl="7" algn="l" defTabSz="914400" rtl="0" eaLnBrk="1" latinLnBrk="0" hangingPunct="1">
              <a:lnSpc>
                <a:spcPct val="100000"/>
              </a:lnSpc>
              <a:spcBef>
                <a:spcPts val="0"/>
              </a:spcBef>
              <a:spcAft>
                <a:spcPts val="0"/>
              </a:spcAft>
              <a:buClr>
                <a:srgbClr val="000000"/>
              </a:buClr>
              <a:buFont typeface="Arial"/>
              <a:defRPr sz="1867" b="0" i="0" u="none" strike="noStrike" kern="1200" cap="none">
                <a:solidFill>
                  <a:srgbClr val="000000"/>
                </a:solidFill>
                <a:latin typeface="Arial"/>
                <a:ea typeface="Arial"/>
                <a:cs typeface="Arial"/>
                <a:sym typeface="Arial"/>
              </a:defRPr>
            </a:lvl8pPr>
            <a:lvl9pPr marL="3657600" marR="0" lvl="8" algn="l" defTabSz="914400" rtl="0" eaLnBrk="1" latinLnBrk="0" hangingPunct="1">
              <a:lnSpc>
                <a:spcPct val="100000"/>
              </a:lnSpc>
              <a:spcBef>
                <a:spcPts val="0"/>
              </a:spcBef>
              <a:spcAft>
                <a:spcPts val="0"/>
              </a:spcAft>
              <a:buClr>
                <a:srgbClr val="000000"/>
              </a:buClr>
              <a:buFont typeface="Arial"/>
              <a:defRPr sz="1867" b="0" i="0" u="none" strike="noStrike" kern="1200" cap="none">
                <a:solidFill>
                  <a:srgbClr val="000000"/>
                </a:solidFill>
                <a:latin typeface="Arial"/>
                <a:ea typeface="Arial"/>
                <a:cs typeface="Arial"/>
                <a:sym typeface="Arial"/>
              </a:defRPr>
            </a:lvl9pPr>
          </a:lstStyle>
          <a:p>
            <a:r>
              <a:rPr lang="en-US" sz="2650" b="1">
                <a:solidFill>
                  <a:srgbClr val="2F6B9A"/>
                </a:solidFill>
                <a:latin typeface="Aptos"/>
              </a:rPr>
              <a:t>CONFIGURATION GÉNÉRALE — OSPF</a:t>
            </a:r>
            <a:endParaRPr lang="en-US" sz="1850" b="1">
              <a:solidFill>
                <a:srgbClr val="2F6B9A"/>
              </a:solidFill>
              <a:latin typeface="Aptos"/>
            </a:endParaRPr>
          </a:p>
        </p:txBody>
      </p:sp>
    </p:spTree>
    <p:extLst>
      <p:ext uri="{BB962C8B-B14F-4D97-AF65-F5344CB8AC3E}">
        <p14:creationId xmlns:p14="http://schemas.microsoft.com/office/powerpoint/2010/main" val="5996680"/>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9523BE34-3C39-B96A-43FB-00F43B0D003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63438F5-1442-2FEC-7130-9A71363B8C39}"/>
              </a:ext>
            </a:extLst>
          </p:cNvPr>
          <p:cNvSpPr/>
          <p:nvPr/>
        </p:nvSpPr>
        <p:spPr>
          <a:xfrm>
            <a:off x="1592097" y="112244"/>
            <a:ext cx="5905784" cy="646331"/>
          </a:xfrm>
          <a:prstGeom prst="rect">
            <a:avLst/>
          </a:prstGeom>
        </p:spPr>
        <p:txBody>
          <a:bodyPr wrap="none" lIns="91440" tIns="45720" rIns="91440" bIns="45720" anchor="t">
            <a:spAutoFit/>
          </a:bodyPr>
          <a:lstStyle/>
          <a:p>
            <a:pPr defTabSz="446088"/>
            <a:r>
              <a:rPr lang="en-US" sz="3600" b="1">
                <a:solidFill>
                  <a:srgbClr val="B84A4A"/>
                </a:solidFill>
                <a:latin typeface="Agency FB"/>
                <a:ea typeface="+mn-lt"/>
                <a:cs typeface="+mn-lt"/>
              </a:rPr>
              <a:t>MP-BGP : ÉCHANGE DES ROUTES VPN</a:t>
            </a:r>
            <a:endParaRPr lang="en-US" b="1">
              <a:solidFill>
                <a:srgbClr val="B84A4A"/>
              </a:solidFill>
              <a:latin typeface="Agency FB"/>
            </a:endParaRPr>
          </a:p>
        </p:txBody>
      </p:sp>
      <p:pic>
        <p:nvPicPr>
          <p:cNvPr id="6" name="Image 5">
            <a:extLst>
              <a:ext uri="{FF2B5EF4-FFF2-40B4-BE49-F238E27FC236}">
                <a16:creationId xmlns:a16="http://schemas.microsoft.com/office/drawing/2014/main" id="{BFFC2F65-8AED-3234-1CFC-E55C6135194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4118" y="8935"/>
            <a:ext cx="1453171" cy="1492350"/>
          </a:xfrm>
          <a:prstGeom prst="rect">
            <a:avLst/>
          </a:prstGeom>
        </p:spPr>
      </p:pic>
      <p:sp>
        <p:nvSpPr>
          <p:cNvPr id="89" name="ZoneTexte 6">
            <a:extLst>
              <a:ext uri="{FF2B5EF4-FFF2-40B4-BE49-F238E27FC236}">
                <a16:creationId xmlns:a16="http://schemas.microsoft.com/office/drawing/2014/main" id="{479FBA0D-1DBB-B124-6240-8024C8F5A196}"/>
              </a:ext>
            </a:extLst>
          </p:cNvPr>
          <p:cNvSpPr txBox="1"/>
          <p:nvPr/>
        </p:nvSpPr>
        <p:spPr>
          <a:xfrm>
            <a:off x="172204" y="5069259"/>
            <a:ext cx="11916459" cy="954107"/>
          </a:xfrm>
          <a:prstGeom prst="rect">
            <a:avLst/>
          </a:prstGeom>
          <a:noFill/>
        </p:spPr>
        <p:txBody>
          <a:bodyPr wrap="square" lIns="91440" tIns="45720" rIns="91440" bIns="45720" rtlCol="0" anchor="t">
            <a:spAutoFit/>
          </a:bodyPr>
          <a:lstStyle/>
          <a:p>
            <a:pPr algn="just"/>
            <a:r>
              <a:rPr lang="fr-FR" sz="2800" b="1">
                <a:solidFill>
                  <a:srgbClr val="B84A4A"/>
                </a:solidFill>
                <a:ea typeface="+mn-lt"/>
                <a:cs typeface="+mn-lt"/>
              </a:rPr>
              <a:t>MP-BGP (</a:t>
            </a:r>
            <a:r>
              <a:rPr lang="fr-FR" sz="2800" b="1" err="1">
                <a:solidFill>
                  <a:srgbClr val="B84A4A"/>
                </a:solidFill>
                <a:ea typeface="+mn-lt"/>
                <a:cs typeface="+mn-lt"/>
              </a:rPr>
              <a:t>Multiprotocol</a:t>
            </a:r>
            <a:r>
              <a:rPr lang="fr-FR" sz="2800" b="1">
                <a:solidFill>
                  <a:srgbClr val="B84A4A"/>
                </a:solidFill>
                <a:ea typeface="+mn-lt"/>
                <a:cs typeface="+mn-lt"/>
              </a:rPr>
              <a:t> BGP)</a:t>
            </a:r>
            <a:r>
              <a:rPr lang="fr-FR" sz="2800">
                <a:solidFill>
                  <a:srgbClr val="000000"/>
                </a:solidFill>
                <a:ea typeface="+mn-lt"/>
                <a:cs typeface="+mn-lt"/>
              </a:rPr>
              <a:t> Extension de </a:t>
            </a:r>
            <a:r>
              <a:rPr lang="fr-FR" sz="2800" b="1">
                <a:solidFill>
                  <a:srgbClr val="B84A4A"/>
                </a:solidFill>
                <a:ea typeface="+mn-lt"/>
                <a:cs typeface="+mn-lt"/>
              </a:rPr>
              <a:t>BGP </a:t>
            </a:r>
            <a:r>
              <a:rPr lang="fr-FR" sz="2800">
                <a:solidFill>
                  <a:srgbClr val="000000"/>
                </a:solidFill>
                <a:ea typeface="+mn-lt"/>
                <a:cs typeface="+mn-lt"/>
              </a:rPr>
              <a:t>permettant de transporter plusieurs familles d’adresses, comme IPv4, IPv6, VPNv4 et VPNv6.</a:t>
            </a:r>
            <a:endParaRPr lang="en-US">
              <a:ea typeface="+mn-lt"/>
              <a:cs typeface="+mn-lt"/>
            </a:endParaRPr>
          </a:p>
        </p:txBody>
      </p:sp>
      <p:sp>
        <p:nvSpPr>
          <p:cNvPr id="92" name="ZoneTexte 6">
            <a:extLst>
              <a:ext uri="{FF2B5EF4-FFF2-40B4-BE49-F238E27FC236}">
                <a16:creationId xmlns:a16="http://schemas.microsoft.com/office/drawing/2014/main" id="{39B3B690-9166-F594-A18D-AE54F2221808}"/>
              </a:ext>
            </a:extLst>
          </p:cNvPr>
          <p:cNvSpPr txBox="1"/>
          <p:nvPr/>
        </p:nvSpPr>
        <p:spPr>
          <a:xfrm>
            <a:off x="172203" y="3159642"/>
            <a:ext cx="11916459" cy="954107"/>
          </a:xfrm>
          <a:prstGeom prst="rect">
            <a:avLst/>
          </a:prstGeom>
          <a:noFill/>
        </p:spPr>
        <p:txBody>
          <a:bodyPr wrap="square" lIns="91440" tIns="45720" rIns="91440" bIns="45720" rtlCol="0" anchor="t">
            <a:spAutoFit/>
          </a:bodyPr>
          <a:lstStyle/>
          <a:p>
            <a:pPr algn="just"/>
            <a:r>
              <a:rPr lang="fr-FR" sz="2800" b="1" err="1">
                <a:solidFill>
                  <a:srgbClr val="B84A4A"/>
                </a:solidFill>
                <a:ea typeface="+mn-lt"/>
                <a:cs typeface="+mn-lt"/>
              </a:rPr>
              <a:t>eBGP</a:t>
            </a:r>
            <a:r>
              <a:rPr lang="fr-FR" sz="2800" b="1">
                <a:solidFill>
                  <a:srgbClr val="B84A4A"/>
                </a:solidFill>
                <a:ea typeface="+mn-lt"/>
                <a:cs typeface="+mn-lt"/>
              </a:rPr>
              <a:t> — </a:t>
            </a:r>
            <a:r>
              <a:rPr lang="fr-FR" sz="2800" b="1" err="1">
                <a:solidFill>
                  <a:srgbClr val="B84A4A"/>
                </a:solidFill>
                <a:ea typeface="+mn-lt"/>
                <a:cs typeface="+mn-lt"/>
              </a:rPr>
              <a:t>External</a:t>
            </a:r>
            <a:r>
              <a:rPr lang="fr-FR" sz="2800" b="1">
                <a:solidFill>
                  <a:srgbClr val="B84A4A"/>
                </a:solidFill>
                <a:ea typeface="+mn-lt"/>
                <a:cs typeface="+mn-lt"/>
              </a:rPr>
              <a:t> BGP</a:t>
            </a:r>
            <a:endParaRPr lang="en-US">
              <a:solidFill>
                <a:srgbClr val="B84A4A"/>
              </a:solidFill>
            </a:endParaRPr>
          </a:p>
          <a:p>
            <a:pPr algn="just"/>
            <a:r>
              <a:rPr lang="fr-FR" sz="2800">
                <a:solidFill>
                  <a:srgbClr val="000000"/>
                </a:solidFill>
                <a:ea typeface="+mn-lt"/>
                <a:cs typeface="+mn-lt"/>
              </a:rPr>
              <a:t>Utilisé entre deux routeurs appartenant à des </a:t>
            </a:r>
            <a:r>
              <a:rPr lang="fr-FR" sz="2800" b="1">
                <a:solidFill>
                  <a:srgbClr val="000000"/>
                </a:solidFill>
                <a:ea typeface="+mn-lt"/>
                <a:cs typeface="+mn-lt"/>
              </a:rPr>
              <a:t>AS différents</a:t>
            </a:r>
            <a:r>
              <a:rPr lang="fr-FR" sz="2800">
                <a:solidFill>
                  <a:srgbClr val="000000"/>
                </a:solidFill>
                <a:ea typeface="+mn-lt"/>
                <a:cs typeface="+mn-lt"/>
              </a:rPr>
              <a:t>.</a:t>
            </a:r>
            <a:endParaRPr lang="en-US">
              <a:ea typeface="+mn-lt"/>
              <a:cs typeface="+mn-lt"/>
            </a:endParaRPr>
          </a:p>
        </p:txBody>
      </p:sp>
      <p:sp>
        <p:nvSpPr>
          <p:cNvPr id="2" name="ZoneTexte 6">
            <a:extLst>
              <a:ext uri="{FF2B5EF4-FFF2-40B4-BE49-F238E27FC236}">
                <a16:creationId xmlns:a16="http://schemas.microsoft.com/office/drawing/2014/main" id="{4D42FB41-ED9F-3C46-89B6-F84DD0642CBE}"/>
              </a:ext>
            </a:extLst>
          </p:cNvPr>
          <p:cNvSpPr txBox="1"/>
          <p:nvPr/>
        </p:nvSpPr>
        <p:spPr>
          <a:xfrm>
            <a:off x="150116" y="1337468"/>
            <a:ext cx="11877807" cy="2246769"/>
          </a:xfrm>
          <a:prstGeom prst="rect">
            <a:avLst/>
          </a:prstGeom>
          <a:noFill/>
        </p:spPr>
        <p:txBody>
          <a:bodyPr wrap="square" lIns="91440" tIns="45720" rIns="91440" bIns="45720" rtlCol="0" anchor="t">
            <a:spAutoFit/>
          </a:bodyPr>
          <a:lstStyle/>
          <a:p>
            <a:pPr algn="just"/>
            <a:r>
              <a:rPr lang="fr-FR" sz="2800">
                <a:solidFill>
                  <a:srgbClr val="000000"/>
                </a:solidFill>
                <a:ea typeface="+mn-lt"/>
                <a:cs typeface="+mn-lt"/>
              </a:rPr>
              <a:t>      </a:t>
            </a:r>
            <a:r>
              <a:rPr lang="fr-FR" sz="2800" b="1">
                <a:solidFill>
                  <a:srgbClr val="B84A4A"/>
                </a:solidFill>
                <a:ea typeface="+mn-lt"/>
                <a:cs typeface="+mn-lt"/>
              </a:rPr>
              <a:t>BGP (Border Gateway Protocol) </a:t>
            </a:r>
            <a:r>
              <a:rPr lang="fr-FR" sz="2800">
                <a:solidFill>
                  <a:srgbClr val="000000"/>
                </a:solidFill>
                <a:ea typeface="+mn-lt"/>
                <a:cs typeface="+mn-lt"/>
              </a:rPr>
              <a:t>est un protocole de routage qui permet de certifier la communication entre deux </a:t>
            </a:r>
            <a:r>
              <a:rPr lang="fr-FR" sz="2800" b="1">
                <a:solidFill>
                  <a:srgbClr val="000000"/>
                </a:solidFill>
                <a:ea typeface="+mn-lt"/>
                <a:cs typeface="+mn-lt"/>
              </a:rPr>
              <a:t>systèmes autonomes</a:t>
            </a:r>
            <a:r>
              <a:rPr lang="fr-FR" sz="2800">
                <a:solidFill>
                  <a:srgbClr val="000000"/>
                </a:solidFill>
                <a:ea typeface="+mn-lt"/>
                <a:cs typeface="+mn-lt"/>
              </a:rPr>
              <a:t> sur un réseau partagé par tous les clients. Il montre le voisinage en se basant sur les interfaces </a:t>
            </a:r>
            <a:r>
              <a:rPr lang="fr-FR" sz="2800" b="1">
                <a:solidFill>
                  <a:srgbClr val="000000"/>
                </a:solidFill>
                <a:ea typeface="+mn-lt"/>
                <a:cs typeface="+mn-lt"/>
              </a:rPr>
              <a:t>loopback</a:t>
            </a:r>
            <a:r>
              <a:rPr lang="fr-FR" sz="2800">
                <a:solidFill>
                  <a:srgbClr val="000000"/>
                </a:solidFill>
                <a:ea typeface="+mn-lt"/>
                <a:cs typeface="+mn-lt"/>
              </a:rPr>
              <a:t>. Il diminue les charges sur les interfaces physiques.</a:t>
            </a:r>
            <a:endParaRPr lang="fr-FR">
              <a:ea typeface="+mn-lt"/>
              <a:cs typeface="+mn-lt"/>
            </a:endParaRPr>
          </a:p>
          <a:p>
            <a:pPr algn="just"/>
            <a:endParaRPr lang="fr-FR" sz="2800">
              <a:ea typeface="+mn-lt"/>
              <a:cs typeface="+mn-lt"/>
            </a:endParaRPr>
          </a:p>
        </p:txBody>
      </p:sp>
      <p:sp>
        <p:nvSpPr>
          <p:cNvPr id="7" name="ZoneTexte 6">
            <a:extLst>
              <a:ext uri="{FF2B5EF4-FFF2-40B4-BE49-F238E27FC236}">
                <a16:creationId xmlns:a16="http://schemas.microsoft.com/office/drawing/2014/main" id="{CE3EA1FF-B569-67D2-68FF-E5E110BBD713}"/>
              </a:ext>
            </a:extLst>
          </p:cNvPr>
          <p:cNvSpPr txBox="1"/>
          <p:nvPr/>
        </p:nvSpPr>
        <p:spPr>
          <a:xfrm>
            <a:off x="172203" y="4114903"/>
            <a:ext cx="11916459" cy="954107"/>
          </a:xfrm>
          <a:prstGeom prst="rect">
            <a:avLst/>
          </a:prstGeom>
          <a:noFill/>
        </p:spPr>
        <p:txBody>
          <a:bodyPr wrap="square" lIns="91440" tIns="45720" rIns="91440" bIns="45720" rtlCol="0" anchor="t">
            <a:spAutoFit/>
          </a:bodyPr>
          <a:lstStyle/>
          <a:p>
            <a:pPr algn="just"/>
            <a:r>
              <a:rPr lang="fr-FR" sz="2800" b="1" err="1">
                <a:solidFill>
                  <a:srgbClr val="B84A4A"/>
                </a:solidFill>
                <a:ea typeface="+mn-lt"/>
                <a:cs typeface="+mn-lt"/>
              </a:rPr>
              <a:t>iBGP</a:t>
            </a:r>
            <a:r>
              <a:rPr lang="fr-FR" sz="2800" b="1">
                <a:solidFill>
                  <a:srgbClr val="B84A4A"/>
                </a:solidFill>
                <a:ea typeface="+mn-lt"/>
                <a:cs typeface="+mn-lt"/>
              </a:rPr>
              <a:t> — </a:t>
            </a:r>
            <a:r>
              <a:rPr lang="fr-FR" sz="2800" b="1" err="1">
                <a:solidFill>
                  <a:srgbClr val="B84A4A"/>
                </a:solidFill>
                <a:ea typeface="+mn-lt"/>
                <a:cs typeface="+mn-lt"/>
              </a:rPr>
              <a:t>Internal</a:t>
            </a:r>
            <a:r>
              <a:rPr lang="fr-FR" sz="2800" b="1">
                <a:solidFill>
                  <a:srgbClr val="B84A4A"/>
                </a:solidFill>
                <a:ea typeface="+mn-lt"/>
                <a:cs typeface="+mn-lt"/>
              </a:rPr>
              <a:t> BGP</a:t>
            </a:r>
            <a:endParaRPr lang="en-US">
              <a:ea typeface="+mn-lt"/>
              <a:cs typeface="+mn-lt"/>
            </a:endParaRPr>
          </a:p>
          <a:p>
            <a:pPr algn="just"/>
            <a:r>
              <a:rPr lang="fr-FR" sz="2800">
                <a:solidFill>
                  <a:schemeClr val="tx1">
                    <a:lumMod val="95000"/>
                    <a:lumOff val="5000"/>
                  </a:schemeClr>
                </a:solidFill>
                <a:ea typeface="+mn-lt"/>
                <a:cs typeface="+mn-lt"/>
              </a:rPr>
              <a:t>Utilisé entre deux routeurs appartenant au </a:t>
            </a:r>
            <a:r>
              <a:rPr lang="fr-FR" sz="2800" b="1">
                <a:solidFill>
                  <a:schemeClr val="tx1">
                    <a:lumMod val="95000"/>
                    <a:lumOff val="5000"/>
                  </a:schemeClr>
                </a:solidFill>
                <a:ea typeface="+mn-lt"/>
                <a:cs typeface="+mn-lt"/>
              </a:rPr>
              <a:t>même AS</a:t>
            </a:r>
            <a:r>
              <a:rPr lang="fr-FR" sz="2800">
                <a:solidFill>
                  <a:schemeClr val="tx1">
                    <a:lumMod val="95000"/>
                    <a:lumOff val="5000"/>
                  </a:schemeClr>
                </a:solidFill>
                <a:ea typeface="+mn-lt"/>
                <a:cs typeface="+mn-lt"/>
              </a:rPr>
              <a:t>.</a:t>
            </a:r>
            <a:endParaRPr lang="en-US">
              <a:solidFill>
                <a:schemeClr val="tx1">
                  <a:lumMod val="95000"/>
                  <a:lumOff val="5000"/>
                </a:schemeClr>
              </a:solidFill>
              <a:ea typeface="+mn-lt"/>
              <a:cs typeface="+mn-lt"/>
            </a:endParaRPr>
          </a:p>
        </p:txBody>
      </p:sp>
    </p:spTree>
    <p:extLst>
      <p:ext uri="{BB962C8B-B14F-4D97-AF65-F5344CB8AC3E}">
        <p14:creationId xmlns:p14="http://schemas.microsoft.com/office/powerpoint/2010/main" val="2900856903"/>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16081D28-0A85-EE68-3286-D0F627D75E4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30EF0E7-271A-659F-8E08-C19DCB9263DE}"/>
              </a:ext>
            </a:extLst>
          </p:cNvPr>
          <p:cNvSpPr/>
          <p:nvPr/>
        </p:nvSpPr>
        <p:spPr>
          <a:xfrm>
            <a:off x="1592097" y="112244"/>
            <a:ext cx="5210081" cy="769441"/>
          </a:xfrm>
          <a:prstGeom prst="rect">
            <a:avLst/>
          </a:prstGeom>
        </p:spPr>
        <p:txBody>
          <a:bodyPr wrap="none" lIns="91440" tIns="45720" rIns="91440" bIns="45720" anchor="t">
            <a:spAutoFit/>
          </a:bodyPr>
          <a:lstStyle/>
          <a:p>
            <a:pPr defTabSz="446088"/>
            <a:r>
              <a:rPr lang="fr-FR" sz="4400" b="1">
                <a:solidFill>
                  <a:srgbClr val="1F2937"/>
                </a:solidFill>
                <a:latin typeface="Agency FB"/>
                <a:ea typeface="+mn-lt"/>
                <a:cs typeface="+mn-lt"/>
              </a:rPr>
              <a:t>AS — </a:t>
            </a:r>
            <a:r>
              <a:rPr lang="fr-FR" sz="4400" b="1" err="1">
                <a:solidFill>
                  <a:srgbClr val="1F2937"/>
                </a:solidFill>
                <a:latin typeface="Agency FB"/>
                <a:ea typeface="+mn-lt"/>
                <a:cs typeface="+mn-lt"/>
              </a:rPr>
              <a:t>Autonomous</a:t>
            </a:r>
            <a:r>
              <a:rPr lang="fr-FR" sz="4400" b="1">
                <a:solidFill>
                  <a:srgbClr val="1F2937"/>
                </a:solidFill>
                <a:latin typeface="Agency FB"/>
                <a:ea typeface="+mn-lt"/>
                <a:cs typeface="+mn-lt"/>
              </a:rPr>
              <a:t> System</a:t>
            </a:r>
            <a:endParaRPr lang="fr-FR" sz="4400" b="1">
              <a:solidFill>
                <a:srgbClr val="1F2937"/>
              </a:solidFill>
              <a:latin typeface="Agency FB"/>
            </a:endParaRPr>
          </a:p>
        </p:txBody>
      </p:sp>
      <p:pic>
        <p:nvPicPr>
          <p:cNvPr id="6" name="Image 5">
            <a:extLst>
              <a:ext uri="{FF2B5EF4-FFF2-40B4-BE49-F238E27FC236}">
                <a16:creationId xmlns:a16="http://schemas.microsoft.com/office/drawing/2014/main" id="{CC769EE8-347A-5752-92D5-AB789F81714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4118" y="8935"/>
            <a:ext cx="1453171" cy="1492350"/>
          </a:xfrm>
          <a:prstGeom prst="rect">
            <a:avLst/>
          </a:prstGeom>
        </p:spPr>
      </p:pic>
      <p:sp>
        <p:nvSpPr>
          <p:cNvPr id="89" name="ZoneTexte 6">
            <a:extLst>
              <a:ext uri="{FF2B5EF4-FFF2-40B4-BE49-F238E27FC236}">
                <a16:creationId xmlns:a16="http://schemas.microsoft.com/office/drawing/2014/main" id="{8CD54158-E44B-455F-9C66-3DD78FC791CC}"/>
              </a:ext>
            </a:extLst>
          </p:cNvPr>
          <p:cNvSpPr txBox="1"/>
          <p:nvPr/>
        </p:nvSpPr>
        <p:spPr>
          <a:xfrm>
            <a:off x="172204" y="4509665"/>
            <a:ext cx="11916459" cy="954107"/>
          </a:xfrm>
          <a:prstGeom prst="rect">
            <a:avLst/>
          </a:prstGeom>
          <a:noFill/>
        </p:spPr>
        <p:txBody>
          <a:bodyPr wrap="square" lIns="91440" tIns="45720" rIns="91440" bIns="45720" rtlCol="0" anchor="t">
            <a:spAutoFit/>
          </a:bodyPr>
          <a:lstStyle/>
          <a:p>
            <a:pPr marL="457200" indent="-457200" algn="just">
              <a:buFont typeface="Wingdings"/>
              <a:buChar char="Ø"/>
            </a:pPr>
            <a:r>
              <a:rPr lang="fr-FR" sz="2800" b="1">
                <a:solidFill>
                  <a:srgbClr val="E21B2D"/>
                </a:solidFill>
              </a:rPr>
              <a:t>Maroc Telecom</a:t>
            </a:r>
            <a:r>
              <a:rPr lang="fr-FR" sz="2800">
                <a:solidFill>
                  <a:srgbClr val="000000"/>
                </a:solidFill>
                <a:ea typeface="+mn-lt"/>
                <a:cs typeface="+mn-lt"/>
              </a:rPr>
              <a:t> → </a:t>
            </a:r>
            <a:r>
              <a:rPr lang="fr-FR" sz="2800" b="1">
                <a:solidFill>
                  <a:srgbClr val="000000"/>
                </a:solidFill>
                <a:ea typeface="+mn-lt"/>
                <a:cs typeface="+mn-lt"/>
              </a:rPr>
              <a:t>AS 6713</a:t>
            </a:r>
            <a:r>
              <a:rPr lang="fr-FR" sz="2800">
                <a:solidFill>
                  <a:srgbClr val="000000"/>
                </a:solidFill>
                <a:ea typeface="+mn-lt"/>
                <a:cs typeface="+mn-lt"/>
              </a:rPr>
              <a:t> </a:t>
            </a:r>
            <a:endParaRPr lang="en-US">
              <a:ea typeface="+mn-lt"/>
              <a:cs typeface="+mn-lt"/>
            </a:endParaRPr>
          </a:p>
          <a:p>
            <a:pPr marL="457200" indent="-457200" algn="just">
              <a:buFont typeface="Wingdings"/>
              <a:buChar char="Ø"/>
            </a:pPr>
            <a:r>
              <a:rPr lang="fr-FR" sz="2800" b="1">
                <a:solidFill>
                  <a:srgbClr val="FF7900"/>
                </a:solidFill>
                <a:ea typeface="+mn-lt"/>
                <a:cs typeface="+mn-lt"/>
              </a:rPr>
              <a:t>Orange Maroc</a:t>
            </a:r>
            <a:r>
              <a:rPr lang="fr-FR" sz="2800">
                <a:solidFill>
                  <a:srgbClr val="000000"/>
                </a:solidFill>
                <a:ea typeface="+mn-lt"/>
                <a:cs typeface="+mn-lt"/>
              </a:rPr>
              <a:t>    → </a:t>
            </a:r>
            <a:r>
              <a:rPr lang="fr-FR" sz="2800" b="1">
                <a:solidFill>
                  <a:srgbClr val="000000"/>
                </a:solidFill>
                <a:ea typeface="+mn-lt"/>
                <a:cs typeface="+mn-lt"/>
              </a:rPr>
              <a:t>AS 36925 </a:t>
            </a:r>
            <a:endParaRPr lang="en-US" b="1">
              <a:ea typeface="+mn-lt"/>
              <a:cs typeface="+mn-lt"/>
            </a:endParaRPr>
          </a:p>
        </p:txBody>
      </p:sp>
      <p:sp>
        <p:nvSpPr>
          <p:cNvPr id="2" name="ZoneTexte 6">
            <a:extLst>
              <a:ext uri="{FF2B5EF4-FFF2-40B4-BE49-F238E27FC236}">
                <a16:creationId xmlns:a16="http://schemas.microsoft.com/office/drawing/2014/main" id="{39CCF0B9-131C-9A3A-C79E-91C8984E47F2}"/>
              </a:ext>
            </a:extLst>
          </p:cNvPr>
          <p:cNvSpPr txBox="1"/>
          <p:nvPr/>
        </p:nvSpPr>
        <p:spPr>
          <a:xfrm>
            <a:off x="155638" y="1712946"/>
            <a:ext cx="11877807" cy="1384995"/>
          </a:xfrm>
          <a:prstGeom prst="rect">
            <a:avLst/>
          </a:prstGeom>
          <a:noFill/>
        </p:spPr>
        <p:txBody>
          <a:bodyPr wrap="square" lIns="91440" tIns="45720" rIns="91440" bIns="45720" rtlCol="0" anchor="t">
            <a:spAutoFit/>
          </a:bodyPr>
          <a:lstStyle/>
          <a:p>
            <a:pPr algn="just"/>
            <a:r>
              <a:rPr lang="fr-FR" sz="2800" b="1">
                <a:solidFill>
                  <a:srgbClr val="000000"/>
                </a:solidFill>
                <a:ea typeface="+mn-lt"/>
                <a:cs typeface="+mn-lt"/>
              </a:rPr>
              <a:t>AS — </a:t>
            </a:r>
            <a:r>
              <a:rPr lang="fr-FR" sz="2800" b="1" err="1">
                <a:solidFill>
                  <a:srgbClr val="000000"/>
                </a:solidFill>
                <a:ea typeface="+mn-lt"/>
                <a:cs typeface="+mn-lt"/>
              </a:rPr>
              <a:t>Autonomous</a:t>
            </a:r>
            <a:r>
              <a:rPr lang="fr-FR" sz="2800" b="1">
                <a:solidFill>
                  <a:srgbClr val="000000"/>
                </a:solidFill>
                <a:ea typeface="+mn-lt"/>
                <a:cs typeface="+mn-lt"/>
              </a:rPr>
              <a:t> System :</a:t>
            </a:r>
            <a:endParaRPr lang="en-US"/>
          </a:p>
          <a:p>
            <a:pPr algn="just"/>
            <a:r>
              <a:rPr lang="fr-FR" sz="2800">
                <a:solidFill>
                  <a:srgbClr val="000000"/>
                </a:solidFill>
                <a:ea typeface="+mn-lt"/>
                <a:cs typeface="+mn-lt"/>
              </a:rPr>
              <a:t>Ensemble de réseaux et de routeurs gérés par une même organisation et identifiés par un numéro </a:t>
            </a:r>
            <a:r>
              <a:rPr lang="fr-FR" sz="2800" b="1">
                <a:solidFill>
                  <a:srgbClr val="000000"/>
                </a:solidFill>
                <a:ea typeface="+mn-lt"/>
                <a:cs typeface="+mn-lt"/>
              </a:rPr>
              <a:t>ASN</a:t>
            </a:r>
            <a:r>
              <a:rPr lang="fr-FR" sz="2800">
                <a:solidFill>
                  <a:srgbClr val="000000"/>
                </a:solidFill>
                <a:ea typeface="+mn-lt"/>
                <a:cs typeface="+mn-lt"/>
              </a:rPr>
              <a:t>.</a:t>
            </a:r>
            <a:endParaRPr lang="fr-FR">
              <a:ea typeface="+mn-lt"/>
              <a:cs typeface="+mn-lt"/>
            </a:endParaRPr>
          </a:p>
        </p:txBody>
      </p:sp>
      <p:grpSp>
        <p:nvGrpSpPr>
          <p:cNvPr id="5" name="Group 4">
            <a:extLst>
              <a:ext uri="{FF2B5EF4-FFF2-40B4-BE49-F238E27FC236}">
                <a16:creationId xmlns:a16="http://schemas.microsoft.com/office/drawing/2014/main" id="{D42C10D9-F3E1-C8CF-FB8D-CA84AF6DA22F}"/>
              </a:ext>
            </a:extLst>
          </p:cNvPr>
          <p:cNvGrpSpPr/>
          <p:nvPr/>
        </p:nvGrpSpPr>
        <p:grpSpPr>
          <a:xfrm>
            <a:off x="172203" y="3219173"/>
            <a:ext cx="11916459" cy="1076860"/>
            <a:chOff x="172203" y="3159642"/>
            <a:chExt cx="11916459" cy="1076860"/>
          </a:xfrm>
        </p:grpSpPr>
        <p:sp>
          <p:nvSpPr>
            <p:cNvPr id="92" name="ZoneTexte 6">
              <a:extLst>
                <a:ext uri="{FF2B5EF4-FFF2-40B4-BE49-F238E27FC236}">
                  <a16:creationId xmlns:a16="http://schemas.microsoft.com/office/drawing/2014/main" id="{782B2638-76E1-FE20-B443-FDACCF4EBBA9}"/>
                </a:ext>
              </a:extLst>
            </p:cNvPr>
            <p:cNvSpPr txBox="1"/>
            <p:nvPr/>
          </p:nvSpPr>
          <p:spPr>
            <a:xfrm>
              <a:off x="172203" y="3159642"/>
              <a:ext cx="11916459" cy="523220"/>
            </a:xfrm>
            <a:prstGeom prst="rect">
              <a:avLst/>
            </a:prstGeom>
            <a:noFill/>
          </p:spPr>
          <p:txBody>
            <a:bodyPr wrap="square" lIns="91440" tIns="45720" rIns="91440" bIns="45720" rtlCol="0" anchor="t">
              <a:spAutoFit/>
            </a:bodyPr>
            <a:lstStyle/>
            <a:p>
              <a:pPr algn="just"/>
              <a:r>
                <a:rPr lang="fr-FR" sz="2800" b="1">
                  <a:solidFill>
                    <a:srgbClr val="1F2937"/>
                  </a:solidFill>
                  <a:latin typeface="Aptos"/>
                  <a:ea typeface="+mn-lt"/>
                  <a:cs typeface="+mn-lt"/>
                </a:rPr>
                <a:t>Public</a:t>
              </a:r>
              <a:r>
                <a:rPr lang="fr-FR" sz="2800" b="1">
                  <a:solidFill>
                    <a:srgbClr val="1F2937"/>
                  </a:solidFill>
                  <a:latin typeface="Consolas"/>
                  <a:ea typeface="+mn-lt"/>
                  <a:cs typeface="+mn-lt"/>
                </a:rPr>
                <a:t> ASN </a:t>
              </a:r>
              <a:r>
                <a:rPr lang="fr-FR" sz="2800">
                  <a:solidFill>
                    <a:srgbClr val="1F2937"/>
                  </a:solidFill>
                  <a:latin typeface="Consolas"/>
                  <a:ea typeface="+mn-lt"/>
                  <a:cs typeface="+mn-lt"/>
                </a:rPr>
                <a:t>: </a:t>
              </a:r>
              <a:r>
                <a:rPr lang="fr-FR" sz="2800" b="1">
                  <a:solidFill>
                    <a:srgbClr val="C00000"/>
                  </a:solidFill>
                  <a:latin typeface="Consolas"/>
                  <a:ea typeface="+mn-lt"/>
                  <a:cs typeface="+mn-lt"/>
                </a:rPr>
                <a:t>1 – 64511</a:t>
              </a:r>
              <a:endParaRPr lang="en-US" b="1">
                <a:solidFill>
                  <a:srgbClr val="C00000"/>
                </a:solidFill>
              </a:endParaRPr>
            </a:p>
          </p:txBody>
        </p:sp>
        <p:sp>
          <p:nvSpPr>
            <p:cNvPr id="3" name="ZoneTexte 6">
              <a:extLst>
                <a:ext uri="{FF2B5EF4-FFF2-40B4-BE49-F238E27FC236}">
                  <a16:creationId xmlns:a16="http://schemas.microsoft.com/office/drawing/2014/main" id="{9ECE23FB-94C7-6152-5E5C-D13F8BBC88C6}"/>
                </a:ext>
              </a:extLst>
            </p:cNvPr>
            <p:cNvSpPr txBox="1"/>
            <p:nvPr/>
          </p:nvSpPr>
          <p:spPr>
            <a:xfrm>
              <a:off x="172203" y="3713282"/>
              <a:ext cx="11916459" cy="523220"/>
            </a:xfrm>
            <a:prstGeom prst="rect">
              <a:avLst/>
            </a:prstGeom>
            <a:noFill/>
          </p:spPr>
          <p:txBody>
            <a:bodyPr wrap="square" lIns="91440" tIns="45720" rIns="91440" bIns="45720" rtlCol="0" anchor="t">
              <a:spAutoFit/>
            </a:bodyPr>
            <a:lstStyle/>
            <a:p>
              <a:pPr algn="just"/>
              <a:r>
                <a:rPr lang="fr-FR" sz="2800" b="1">
                  <a:latin typeface="Aptos"/>
                  <a:ea typeface="+mn-lt"/>
                  <a:cs typeface="+mn-lt"/>
                </a:rPr>
                <a:t>Private ASN   : </a:t>
              </a:r>
              <a:r>
                <a:rPr lang="fr-FR" sz="2800" b="1">
                  <a:solidFill>
                    <a:srgbClr val="000000"/>
                  </a:solidFill>
                  <a:latin typeface="Aptos"/>
                  <a:ea typeface="+mn-lt"/>
                  <a:cs typeface="+mn-lt"/>
                </a:rPr>
                <a:t>  </a:t>
              </a:r>
              <a:r>
                <a:rPr lang="fr-FR" sz="2800" b="1">
                  <a:solidFill>
                    <a:srgbClr val="C00000"/>
                  </a:solidFill>
                  <a:latin typeface="Consolas"/>
                  <a:ea typeface="+mn-lt"/>
                  <a:cs typeface="+mn-lt"/>
                </a:rPr>
                <a:t>64512 – 65534</a:t>
              </a:r>
              <a:endParaRPr lang="en-US" sz="2800" b="1">
                <a:solidFill>
                  <a:srgbClr val="C00000"/>
                </a:solidFill>
                <a:latin typeface="Aptos"/>
              </a:endParaRPr>
            </a:p>
          </p:txBody>
        </p:sp>
      </p:grpSp>
      <p:sp>
        <p:nvSpPr>
          <p:cNvPr id="8" name="ZoneTexte 6">
            <a:extLst>
              <a:ext uri="{FF2B5EF4-FFF2-40B4-BE49-F238E27FC236}">
                <a16:creationId xmlns:a16="http://schemas.microsoft.com/office/drawing/2014/main" id="{66EAB89C-CCE9-FCAB-BD3B-C66AD26F6402}"/>
              </a:ext>
            </a:extLst>
          </p:cNvPr>
          <p:cNvSpPr txBox="1"/>
          <p:nvPr/>
        </p:nvSpPr>
        <p:spPr>
          <a:xfrm>
            <a:off x="5702658" y="3390477"/>
            <a:ext cx="6326475" cy="1815882"/>
          </a:xfrm>
          <a:prstGeom prst="rect">
            <a:avLst/>
          </a:prstGeom>
          <a:noFill/>
        </p:spPr>
        <p:txBody>
          <a:bodyPr wrap="square" lIns="91440" tIns="45720" rIns="91440" bIns="45720" rtlCol="0" anchor="t">
            <a:spAutoFit/>
          </a:bodyPr>
          <a:lstStyle/>
          <a:p>
            <a:pPr marL="457200" indent="-457200" algn="just">
              <a:buFont typeface="Wingdings"/>
              <a:buChar char="Ø"/>
            </a:pPr>
            <a:r>
              <a:rPr lang="fr-FR" sz="2800" b="1">
                <a:solidFill>
                  <a:srgbClr val="000000"/>
                </a:solidFill>
                <a:ea typeface="+mn-lt"/>
                <a:cs typeface="+mn-lt"/>
              </a:rPr>
              <a:t>Vodafone Global Network → AS1273</a:t>
            </a:r>
            <a:r>
              <a:rPr lang="fr-FR" sz="2800">
                <a:solidFill>
                  <a:srgbClr val="000000"/>
                </a:solidFill>
                <a:ea typeface="+mn-lt"/>
                <a:cs typeface="+mn-lt"/>
              </a:rPr>
              <a:t> </a:t>
            </a:r>
            <a:endParaRPr lang="fr-FR" sz="2800"/>
          </a:p>
          <a:p>
            <a:pPr marL="457200" indent="-457200" algn="just">
              <a:buFont typeface="Wingdings"/>
              <a:buChar char="Ø"/>
            </a:pPr>
            <a:r>
              <a:rPr lang="fr-FR" sz="2800" b="1">
                <a:solidFill>
                  <a:srgbClr val="000000"/>
                </a:solidFill>
                <a:ea typeface="+mn-lt"/>
                <a:cs typeface="+mn-lt"/>
              </a:rPr>
              <a:t>Vodafone UK → AS5378</a:t>
            </a:r>
            <a:r>
              <a:rPr lang="fr-FR" sz="2800">
                <a:solidFill>
                  <a:srgbClr val="000000"/>
                </a:solidFill>
                <a:ea typeface="+mn-lt"/>
                <a:cs typeface="+mn-lt"/>
              </a:rPr>
              <a:t> </a:t>
            </a:r>
            <a:endParaRPr lang="fr-FR" sz="2800"/>
          </a:p>
          <a:p>
            <a:pPr marL="457200" indent="-457200" algn="just">
              <a:buFont typeface="Wingdings"/>
              <a:buChar char="Ø"/>
            </a:pPr>
            <a:r>
              <a:rPr lang="fr-FR" sz="2800" b="1">
                <a:solidFill>
                  <a:srgbClr val="000000"/>
                </a:solidFill>
                <a:ea typeface="+mn-lt"/>
                <a:cs typeface="+mn-lt"/>
              </a:rPr>
              <a:t>Vodafone España → AS12430</a:t>
            </a:r>
            <a:r>
              <a:rPr lang="fr-FR" sz="2800">
                <a:solidFill>
                  <a:srgbClr val="000000"/>
                </a:solidFill>
                <a:ea typeface="+mn-lt"/>
                <a:cs typeface="+mn-lt"/>
              </a:rPr>
              <a:t> </a:t>
            </a:r>
            <a:endParaRPr lang="fr-FR" sz="2800"/>
          </a:p>
          <a:p>
            <a:pPr marL="457200" indent="-457200" algn="just">
              <a:buFont typeface="Wingdings"/>
              <a:buChar char="Ø"/>
            </a:pPr>
            <a:r>
              <a:rPr lang="fr-FR" sz="2800" b="1">
                <a:solidFill>
                  <a:srgbClr val="000000"/>
                </a:solidFill>
                <a:ea typeface="+mn-lt"/>
                <a:cs typeface="+mn-lt"/>
              </a:rPr>
              <a:t>Vodafone Portugal → AS12353</a:t>
            </a:r>
            <a:r>
              <a:rPr lang="fr-FR" sz="2800">
                <a:solidFill>
                  <a:srgbClr val="000000"/>
                </a:solidFill>
                <a:ea typeface="+mn-lt"/>
                <a:cs typeface="+mn-lt"/>
              </a:rPr>
              <a:t> </a:t>
            </a:r>
            <a:endParaRPr lang="fr-FR"/>
          </a:p>
        </p:txBody>
      </p:sp>
    </p:spTree>
    <p:extLst>
      <p:ext uri="{BB962C8B-B14F-4D97-AF65-F5344CB8AC3E}">
        <p14:creationId xmlns:p14="http://schemas.microsoft.com/office/powerpoint/2010/main" val="3738335602"/>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9D85BD0-2C3E-611F-DA24-51ACC25646E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EA833C6-3290-A61F-4D54-BF52E1779DA2}"/>
              </a:ext>
            </a:extLst>
          </p:cNvPr>
          <p:cNvSpPr/>
          <p:nvPr/>
        </p:nvSpPr>
        <p:spPr>
          <a:xfrm>
            <a:off x="1592097" y="112244"/>
            <a:ext cx="6069290" cy="646331"/>
          </a:xfrm>
          <a:prstGeom prst="rect">
            <a:avLst/>
          </a:prstGeom>
        </p:spPr>
        <p:txBody>
          <a:bodyPr wrap="none" lIns="91440" tIns="45720" rIns="91440" bIns="45720" anchor="t">
            <a:spAutoFit/>
          </a:bodyPr>
          <a:lstStyle/>
          <a:p>
            <a:pPr defTabSz="446088"/>
            <a:r>
              <a:rPr lang="en-US" sz="3600" b="1">
                <a:solidFill>
                  <a:schemeClr val="tx1">
                    <a:lumMod val="95000"/>
                    <a:lumOff val="5000"/>
                  </a:schemeClr>
                </a:solidFill>
                <a:latin typeface="Agency FB"/>
                <a:ea typeface="+mn-lt"/>
                <a:cs typeface="+mn-lt"/>
              </a:rPr>
              <a:t>MISE EN PLACE DE LA CONFIGURATION</a:t>
            </a:r>
            <a:endParaRPr lang="en-US" b="1">
              <a:solidFill>
                <a:schemeClr val="tx1">
                  <a:lumMod val="95000"/>
                  <a:lumOff val="5000"/>
                </a:schemeClr>
              </a:solidFill>
              <a:latin typeface="Agency FB"/>
              <a:ea typeface="Calibri"/>
              <a:cs typeface="Calibri"/>
            </a:endParaRPr>
          </a:p>
        </p:txBody>
      </p:sp>
      <p:pic>
        <p:nvPicPr>
          <p:cNvPr id="6" name="Image 5">
            <a:extLst>
              <a:ext uri="{FF2B5EF4-FFF2-40B4-BE49-F238E27FC236}">
                <a16:creationId xmlns:a16="http://schemas.microsoft.com/office/drawing/2014/main" id="{97AB8670-87F5-C5A5-B4CC-AF378B03CF2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4118" y="8935"/>
            <a:ext cx="1453171" cy="1492350"/>
          </a:xfrm>
          <a:prstGeom prst="rect">
            <a:avLst/>
          </a:prstGeom>
        </p:spPr>
      </p:pic>
      <p:sp>
        <p:nvSpPr>
          <p:cNvPr id="89" name="ZoneTexte 6">
            <a:extLst>
              <a:ext uri="{FF2B5EF4-FFF2-40B4-BE49-F238E27FC236}">
                <a16:creationId xmlns:a16="http://schemas.microsoft.com/office/drawing/2014/main" id="{F1B1E2E4-68F4-7856-F0FA-6843FFE9CEC9}"/>
              </a:ext>
            </a:extLst>
          </p:cNvPr>
          <p:cNvSpPr txBox="1"/>
          <p:nvPr/>
        </p:nvSpPr>
        <p:spPr>
          <a:xfrm>
            <a:off x="150117" y="1498161"/>
            <a:ext cx="11916459" cy="1384995"/>
          </a:xfrm>
          <a:prstGeom prst="rect">
            <a:avLst/>
          </a:prstGeom>
          <a:noFill/>
        </p:spPr>
        <p:txBody>
          <a:bodyPr wrap="square" lIns="91440" tIns="45720" rIns="91440" bIns="45720" rtlCol="0" anchor="t">
            <a:spAutoFit/>
          </a:bodyPr>
          <a:lstStyle/>
          <a:p>
            <a:pPr algn="just"/>
            <a:r>
              <a:rPr lang="fr-FR" sz="2800">
                <a:solidFill>
                  <a:srgbClr val="000000"/>
                </a:solidFill>
                <a:ea typeface="+mn-lt"/>
                <a:cs typeface="+mn-lt"/>
              </a:rPr>
              <a:t>Après avoir présenté l’architecture et les différents protocoles utilisés, nous allons maintenant passer à la configuration pratique du réseau MPLS L3VPN dans GNS3.</a:t>
            </a:r>
            <a:endParaRPr lang="en-US">
              <a:ea typeface="+mn-lt"/>
              <a:cs typeface="+mn-lt"/>
            </a:endParaRPr>
          </a:p>
        </p:txBody>
      </p:sp>
      <p:sp>
        <p:nvSpPr>
          <p:cNvPr id="92" name="ZoneTexte 6">
            <a:extLst>
              <a:ext uri="{FF2B5EF4-FFF2-40B4-BE49-F238E27FC236}">
                <a16:creationId xmlns:a16="http://schemas.microsoft.com/office/drawing/2014/main" id="{6519B93E-D5B9-8D5A-2F19-B4CC2015EFBD}"/>
              </a:ext>
            </a:extLst>
          </p:cNvPr>
          <p:cNvSpPr txBox="1"/>
          <p:nvPr/>
        </p:nvSpPr>
        <p:spPr>
          <a:xfrm>
            <a:off x="626366" y="2881138"/>
            <a:ext cx="10904428" cy="3108543"/>
          </a:xfrm>
          <a:prstGeom prst="rect">
            <a:avLst/>
          </a:prstGeom>
          <a:noFill/>
        </p:spPr>
        <p:txBody>
          <a:bodyPr wrap="square" lIns="91440" tIns="45720" rIns="91440" bIns="45720" rtlCol="0" anchor="t">
            <a:spAutoFit/>
          </a:bodyPr>
          <a:lstStyle/>
          <a:p>
            <a:pPr algn="just"/>
            <a:r>
              <a:rPr lang="fr-FR" sz="2800" b="1">
                <a:solidFill>
                  <a:srgbClr val="163A5F"/>
                </a:solidFill>
                <a:latin typeface="Agency FB"/>
                <a:ea typeface="+mn-lt"/>
                <a:cs typeface="+mn-lt"/>
              </a:rPr>
              <a:t>1. Configuration des </a:t>
            </a:r>
            <a:r>
              <a:rPr lang="fr-FR" sz="2800" b="1">
                <a:solidFill>
                  <a:srgbClr val="2E7D5B"/>
                </a:solidFill>
                <a:latin typeface="Agency FB"/>
                <a:ea typeface="+mn-lt"/>
                <a:cs typeface="+mn-lt"/>
              </a:rPr>
              <a:t>VRF </a:t>
            </a:r>
            <a:endParaRPr lang="en-US" b="1">
              <a:solidFill>
                <a:srgbClr val="2E7D5B"/>
              </a:solidFill>
              <a:latin typeface="Agency FB"/>
              <a:ea typeface="+mn-lt"/>
              <a:cs typeface="+mn-lt"/>
            </a:endParaRPr>
          </a:p>
          <a:p>
            <a:pPr algn="just"/>
            <a:r>
              <a:rPr lang="fr-FR" sz="2800" b="1">
                <a:solidFill>
                  <a:srgbClr val="163A5F"/>
                </a:solidFill>
                <a:latin typeface="Agency FB"/>
                <a:ea typeface="+mn-lt"/>
                <a:cs typeface="+mn-lt"/>
              </a:rPr>
              <a:t>2. Configuration d’</a:t>
            </a:r>
            <a:r>
              <a:rPr lang="fr-FR" sz="2800" b="1">
                <a:solidFill>
                  <a:srgbClr val="6B5CA5"/>
                </a:solidFill>
                <a:latin typeface="Agency FB"/>
                <a:ea typeface="+mn-lt"/>
                <a:cs typeface="+mn-lt"/>
              </a:rPr>
              <a:t>IS-IS</a:t>
            </a:r>
            <a:r>
              <a:rPr lang="fr-FR" sz="2800" b="1">
                <a:solidFill>
                  <a:srgbClr val="163A5F"/>
                </a:solidFill>
                <a:latin typeface="Agency FB"/>
                <a:ea typeface="+mn-lt"/>
                <a:cs typeface="+mn-lt"/>
              </a:rPr>
              <a:t> </a:t>
            </a:r>
            <a:endParaRPr lang="en-US" b="1">
              <a:solidFill>
                <a:srgbClr val="163A5F"/>
              </a:solidFill>
              <a:latin typeface="Agency FB"/>
              <a:ea typeface="+mn-lt"/>
              <a:cs typeface="+mn-lt"/>
            </a:endParaRPr>
          </a:p>
          <a:p>
            <a:pPr algn="just"/>
            <a:r>
              <a:rPr lang="fr-FR" sz="2800" b="1">
                <a:solidFill>
                  <a:srgbClr val="163A5F"/>
                </a:solidFill>
                <a:latin typeface="Agency FB"/>
                <a:ea typeface="+mn-lt"/>
                <a:cs typeface="+mn-lt"/>
              </a:rPr>
              <a:t>3. Configuration </a:t>
            </a:r>
            <a:r>
              <a:rPr lang="fr-FR" sz="2800" b="1">
                <a:solidFill>
                  <a:srgbClr val="D97706"/>
                </a:solidFill>
                <a:latin typeface="Agency FB"/>
                <a:ea typeface="+mn-lt"/>
                <a:cs typeface="+mn-lt"/>
              </a:rPr>
              <a:t>MPLS </a:t>
            </a:r>
            <a:r>
              <a:rPr lang="fr-FR" sz="2800" b="1">
                <a:solidFill>
                  <a:srgbClr val="163A5F"/>
                </a:solidFill>
                <a:latin typeface="Agency FB"/>
                <a:ea typeface="+mn-lt"/>
                <a:cs typeface="+mn-lt"/>
              </a:rPr>
              <a:t>/ </a:t>
            </a:r>
            <a:r>
              <a:rPr lang="fr-FR" sz="2800" b="1">
                <a:solidFill>
                  <a:srgbClr val="D97706"/>
                </a:solidFill>
                <a:latin typeface="Agency FB"/>
                <a:ea typeface="+mn-lt"/>
                <a:cs typeface="+mn-lt"/>
              </a:rPr>
              <a:t>LDP </a:t>
            </a:r>
            <a:endParaRPr lang="en-US" b="1">
              <a:solidFill>
                <a:srgbClr val="D97706"/>
              </a:solidFill>
              <a:latin typeface="Agency FB"/>
              <a:ea typeface="+mn-lt"/>
              <a:cs typeface="+mn-lt"/>
            </a:endParaRPr>
          </a:p>
          <a:p>
            <a:pPr algn="just"/>
            <a:r>
              <a:rPr lang="fr-FR" sz="2800" b="1">
                <a:solidFill>
                  <a:srgbClr val="163A5F"/>
                </a:solidFill>
                <a:latin typeface="Agency FB"/>
                <a:ea typeface="+mn-lt"/>
                <a:cs typeface="+mn-lt"/>
              </a:rPr>
              <a:t>4. Configuration </a:t>
            </a:r>
            <a:r>
              <a:rPr lang="fr-FR" sz="2800" b="1">
                <a:solidFill>
                  <a:srgbClr val="B84A4A"/>
                </a:solidFill>
                <a:latin typeface="Agency FB"/>
                <a:ea typeface="+mn-lt"/>
                <a:cs typeface="+mn-lt"/>
              </a:rPr>
              <a:t>MP-BGP</a:t>
            </a:r>
            <a:r>
              <a:rPr lang="fr-FR" sz="2800" b="1">
                <a:solidFill>
                  <a:srgbClr val="163A5F"/>
                </a:solidFill>
                <a:latin typeface="Agency FB"/>
                <a:ea typeface="+mn-lt"/>
                <a:cs typeface="+mn-lt"/>
              </a:rPr>
              <a:t> </a:t>
            </a:r>
            <a:endParaRPr lang="en-US" b="1">
              <a:solidFill>
                <a:srgbClr val="163A5F"/>
              </a:solidFill>
              <a:latin typeface="Agency FB"/>
              <a:ea typeface="+mn-lt"/>
              <a:cs typeface="+mn-lt"/>
            </a:endParaRPr>
          </a:p>
          <a:p>
            <a:pPr algn="just"/>
            <a:r>
              <a:rPr lang="fr-FR" sz="2800" b="1">
                <a:solidFill>
                  <a:srgbClr val="163A5F"/>
                </a:solidFill>
                <a:latin typeface="Agency FB"/>
                <a:ea typeface="+mn-lt"/>
                <a:cs typeface="+mn-lt"/>
              </a:rPr>
              <a:t>5. Configuration </a:t>
            </a:r>
            <a:r>
              <a:rPr lang="fr-FR" sz="2800" b="1">
                <a:solidFill>
                  <a:srgbClr val="2F6B9A"/>
                </a:solidFill>
                <a:latin typeface="Agency FB"/>
                <a:ea typeface="+mn-lt"/>
                <a:cs typeface="+mn-lt"/>
              </a:rPr>
              <a:t>OSPF</a:t>
            </a:r>
            <a:r>
              <a:rPr lang="fr-FR" sz="2800" b="1">
                <a:solidFill>
                  <a:srgbClr val="163A5F"/>
                </a:solidFill>
                <a:latin typeface="Agency FB"/>
                <a:ea typeface="+mn-lt"/>
                <a:cs typeface="+mn-lt"/>
              </a:rPr>
              <a:t> CE–PE </a:t>
            </a:r>
            <a:endParaRPr lang="en-US" b="1">
              <a:solidFill>
                <a:srgbClr val="163A5F"/>
              </a:solidFill>
              <a:latin typeface="Agency FB"/>
              <a:ea typeface="+mn-lt"/>
              <a:cs typeface="+mn-lt"/>
            </a:endParaRPr>
          </a:p>
          <a:p>
            <a:pPr algn="just"/>
            <a:r>
              <a:rPr lang="fr-FR" sz="2800" b="1">
                <a:solidFill>
                  <a:srgbClr val="163A5F"/>
                </a:solidFill>
                <a:latin typeface="Agency FB"/>
                <a:ea typeface="+mn-lt"/>
                <a:cs typeface="+mn-lt"/>
              </a:rPr>
              <a:t>6. Redistribution des routes </a:t>
            </a:r>
            <a:endParaRPr lang="en-US" b="1">
              <a:solidFill>
                <a:srgbClr val="163A5F"/>
              </a:solidFill>
              <a:latin typeface="Agency FB"/>
              <a:ea typeface="+mn-lt"/>
              <a:cs typeface="+mn-lt"/>
            </a:endParaRPr>
          </a:p>
          <a:p>
            <a:pPr algn="just"/>
            <a:r>
              <a:rPr lang="fr-FR" sz="2800" b="1">
                <a:solidFill>
                  <a:srgbClr val="163A5F"/>
                </a:solidFill>
                <a:latin typeface="Agency FB"/>
                <a:ea typeface="+mn-lt"/>
                <a:cs typeface="+mn-lt"/>
              </a:rPr>
              <a:t>7. Vérification et tests </a:t>
            </a:r>
            <a:endParaRPr lang="en-US" b="1">
              <a:solidFill>
                <a:srgbClr val="163A5F"/>
              </a:solidFill>
              <a:latin typeface="Agency FB"/>
            </a:endParaRPr>
          </a:p>
        </p:txBody>
      </p:sp>
      <p:pic>
        <p:nvPicPr>
          <p:cNvPr id="3" name="Picture 2" descr="A logo of a chameleon&#10;&#10;AI-generated content may be incorrect.">
            <a:extLst>
              <a:ext uri="{FF2B5EF4-FFF2-40B4-BE49-F238E27FC236}">
                <a16:creationId xmlns:a16="http://schemas.microsoft.com/office/drawing/2014/main" id="{62BD44B5-B976-4E88-48E2-F264B96568ED}"/>
              </a:ext>
            </a:extLst>
          </p:cNvPr>
          <p:cNvPicPr>
            <a:picLocks noChangeAspect="1"/>
          </p:cNvPicPr>
          <p:nvPr/>
        </p:nvPicPr>
        <p:blipFill>
          <a:blip r:embed="rId4"/>
          <a:stretch>
            <a:fillRect/>
          </a:stretch>
        </p:blipFill>
        <p:spPr>
          <a:xfrm>
            <a:off x="5246615" y="2976952"/>
            <a:ext cx="1718189" cy="1967556"/>
          </a:xfrm>
          <a:prstGeom prst="rect">
            <a:avLst/>
          </a:prstGeom>
        </p:spPr>
      </p:pic>
      <p:pic>
        <p:nvPicPr>
          <p:cNvPr id="7" name="Picture 6" descr="A logo with red letters&#10;&#10;AI-generated content may be incorrect.">
            <a:extLst>
              <a:ext uri="{FF2B5EF4-FFF2-40B4-BE49-F238E27FC236}">
                <a16:creationId xmlns:a16="http://schemas.microsoft.com/office/drawing/2014/main" id="{4B9D996C-ADB0-7586-F2DE-475BCFE6A357}"/>
              </a:ext>
            </a:extLst>
          </p:cNvPr>
          <p:cNvPicPr>
            <a:picLocks noChangeAspect="1"/>
          </p:cNvPicPr>
          <p:nvPr/>
        </p:nvPicPr>
        <p:blipFill>
          <a:blip r:embed="rId5"/>
          <a:stretch>
            <a:fillRect/>
          </a:stretch>
        </p:blipFill>
        <p:spPr>
          <a:xfrm>
            <a:off x="7328914" y="3015165"/>
            <a:ext cx="3630454" cy="1891507"/>
          </a:xfrm>
          <a:prstGeom prst="rect">
            <a:avLst/>
          </a:prstGeom>
        </p:spPr>
      </p:pic>
    </p:spTree>
    <p:extLst>
      <p:ext uri="{BB962C8B-B14F-4D97-AF65-F5344CB8AC3E}">
        <p14:creationId xmlns:p14="http://schemas.microsoft.com/office/powerpoint/2010/main" val="476900756"/>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Imag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12541" y="-27447"/>
            <a:ext cx="1453171" cy="1492350"/>
          </a:xfrm>
          <a:prstGeom prst="rect">
            <a:avLst/>
          </a:prstGeom>
        </p:spPr>
      </p:pic>
      <p:pic>
        <p:nvPicPr>
          <p:cNvPr id="5" name="Imag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8490" y="66688"/>
            <a:ext cx="1304080" cy="1304080"/>
          </a:xfrm>
          <a:prstGeom prst="rect">
            <a:avLst/>
          </a:prstGeom>
        </p:spPr>
      </p:pic>
      <p:pic>
        <p:nvPicPr>
          <p:cNvPr id="14340" name="Picture 4" descr="Free Vector | Thank you for your attention sign illustration"/>
          <p:cNvPicPr>
            <a:picLocks noChangeAspect="1" noChangeArrowheads="1"/>
          </p:cNvPicPr>
          <p:nvPr/>
        </p:nvPicPr>
        <p:blipFill rotWithShape="1">
          <a:blip r:embed="rId5">
            <a:extLst>
              <a:ext uri="{28A0092B-C50C-407E-A947-70E740481C1C}">
                <a14:useLocalDpi xmlns:a14="http://schemas.microsoft.com/office/drawing/2010/main" val="0"/>
              </a:ext>
            </a:extLst>
          </a:blip>
          <a:srcRect l="7827" b="9478"/>
          <a:stretch/>
        </p:blipFill>
        <p:spPr bwMode="auto">
          <a:xfrm>
            <a:off x="3848099" y="482600"/>
            <a:ext cx="5495925" cy="539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516040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21</Slides>
  <Notes>3</Notes>
  <HiddenSlides>0</HiddenSlide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6</cp:revision>
  <dcterms:created xsi:type="dcterms:W3CDTF">2026-09-28T10:31:14Z</dcterms:created>
  <dcterms:modified xsi:type="dcterms:W3CDTF">2026-10-12T11:38:31Z</dcterms:modified>
</cp:coreProperties>
</file>